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FEA0F-8E1C-47B1-AA07-1137DE90CC8D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16214-9249-4000-AA1A-C4CA5DAA5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58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A86057-8E98-4350-95B4-6F3F8622B6C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259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85147-F1E1-48F2-B850-40403CCF6E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121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CA5234-82AE-4A41-BA11-769CE27A034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685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202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15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16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902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8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20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29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09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686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28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107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667A3-B058-46C7-AD91-F0627E11500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5F94C-B66E-453E-8B02-120109B4D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856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2">
            <a:extLst>
              <a:ext uri="{FF2B5EF4-FFF2-40B4-BE49-F238E27FC236}">
                <a16:creationId xmlns:a16="http://schemas.microsoft.com/office/drawing/2014/main" id="{66A8DD37-986B-6DCE-793E-0263991D3D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508" y="-3365638"/>
            <a:ext cx="465763" cy="465763"/>
          </a:xfrm>
          <a:prstGeom prst="rect">
            <a:avLst/>
          </a:prstGeom>
        </p:spPr>
      </p:pic>
      <p:pic>
        <p:nvPicPr>
          <p:cNvPr id="62" name="Рисунок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6978" y="6474645"/>
            <a:ext cx="1627762" cy="37129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225779" y="163232"/>
            <a:ext cx="52930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EC6C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Целевое состояние ИТ</a:t>
            </a:r>
            <a:r>
              <a:rPr lang="en-AU" sz="2400" b="1" dirty="0" smtClean="0">
                <a:solidFill>
                  <a:srgbClr val="EC6C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dirty="0" smtClean="0">
                <a:solidFill>
                  <a:srgbClr val="EC6C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1С </a:t>
            </a:r>
            <a:r>
              <a:rPr lang="en-AU" sz="2400" b="1" dirty="0" smtClean="0">
                <a:solidFill>
                  <a:srgbClr val="EC6C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ERP</a:t>
            </a:r>
            <a:endParaRPr lang="ru-RU" sz="2400" dirty="0"/>
          </a:p>
        </p:txBody>
      </p:sp>
      <p:sp>
        <p:nvSpPr>
          <p:cNvPr id="6" name="Овал 5"/>
          <p:cNvSpPr/>
          <p:nvPr/>
        </p:nvSpPr>
        <p:spPr>
          <a:xfrm>
            <a:off x="3070091" y="1450473"/>
            <a:ext cx="6025550" cy="475488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901220" y="2513312"/>
            <a:ext cx="2303078" cy="2429141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1C: ERP</a:t>
            </a:r>
            <a:endParaRPr lang="ru-RU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4529813" y="5102611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Продажи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194463" y="4079559"/>
            <a:ext cx="1708512" cy="42029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 и автоматизация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7206900" y="3069777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Развитие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3739527" y="4707592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E6B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Операционная эффективность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6466292" y="2111956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8A3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Искусственный интеллект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3242207" y="3805005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0069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Качество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6150738" y="5068873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Право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6956759" y="2602704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Безопасность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3272695" y="3293590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A80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Производство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254881" y="3574907"/>
            <a:ext cx="1651642" cy="399548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Администрирование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4411182" y="1922249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EC6C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Снабжение и логистика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5573822" y="1614306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Финансы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6830682" y="4604961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Персонал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3371104" y="4256770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 и ПБ и Э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3405958" y="2828215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Технология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3741551" y="2361481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RnD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7717537" y="1478872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ERP 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Управление предприятием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8430255" y="1894622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8A3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ИИ агенты</a:t>
            </a:r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ML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8659308" y="2346379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1С</a:t>
            </a:r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PROSTO</a:t>
            </a:r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SKUD  + 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«Интеллект»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9078915" y="3351186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OBSIDIAN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9113385" y="3824817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Битрикс</a:t>
            </a:r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24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953856" y="4433051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</a:t>
            </a:r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ITILIUM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59156" y="4941984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ЗУП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ru-R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Интеграция с метриками и </a:t>
            </a:r>
            <a:r>
              <a:rPr lang="en-AU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8142197" y="5453274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</a:t>
            </a:r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Документооборот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2290837" y="5233560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Битрикс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24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1884402" y="4798482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E6B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1С</a:t>
            </a:r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Аналитика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Овал 33"/>
          <p:cNvSpPr/>
          <p:nvPr/>
        </p:nvSpPr>
        <p:spPr>
          <a:xfrm>
            <a:off x="1643352" y="4337941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1С</a:t>
            </a:r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Производственная безопасность. Охрана труда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Овал 34"/>
          <p:cNvSpPr/>
          <p:nvPr/>
        </p:nvSpPr>
        <p:spPr>
          <a:xfrm>
            <a:off x="2004928" y="2334593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ИИ и машинное обучение</a:t>
            </a:r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интеграция с 1</a:t>
            </a:r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2349485" y="1896311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EC6C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1C:ERP 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Управление предприятием</a:t>
            </a:r>
          </a:p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Овал 36"/>
          <p:cNvSpPr/>
          <p:nvPr/>
        </p:nvSpPr>
        <p:spPr>
          <a:xfrm>
            <a:off x="3072847" y="1468530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EC6C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1C:WMS</a:t>
            </a:r>
            <a:endParaRPr lang="ru-RU" sz="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1675582" y="2759223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1C:ERP 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Управление предприятием</a:t>
            </a:r>
          </a:p>
        </p:txBody>
      </p:sp>
      <p:sp>
        <p:nvSpPr>
          <p:cNvPr id="40" name="Овал 39"/>
          <p:cNvSpPr/>
          <p:nvPr/>
        </p:nvSpPr>
        <p:spPr>
          <a:xfrm>
            <a:off x="1511582" y="3211202"/>
            <a:ext cx="1521556" cy="520009"/>
          </a:xfrm>
          <a:prstGeom prst="ellipse">
            <a:avLst/>
          </a:prstGeom>
          <a:solidFill>
            <a:schemeClr val="bg1"/>
          </a:solidFill>
          <a:ln>
            <a:solidFill>
              <a:srgbClr val="A80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1C:MES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Оперативное управление производством</a:t>
            </a:r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1570992" y="3796457"/>
            <a:ext cx="1486067" cy="476238"/>
          </a:xfrm>
          <a:prstGeom prst="ellipse">
            <a:avLst/>
          </a:prstGeom>
          <a:solidFill>
            <a:schemeClr val="bg1"/>
          </a:solidFill>
          <a:ln>
            <a:solidFill>
              <a:srgbClr val="0069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1C:LIMS 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Управление лабораторией</a:t>
            </a:r>
          </a:p>
        </p:txBody>
      </p:sp>
      <p:sp>
        <p:nvSpPr>
          <p:cNvPr id="42" name="Овал 41"/>
          <p:cNvSpPr/>
          <p:nvPr/>
        </p:nvSpPr>
        <p:spPr>
          <a:xfrm>
            <a:off x="2813108" y="5677774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1C:ERP 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Управление предприятием</a:t>
            </a:r>
          </a:p>
        </p:txBody>
      </p:sp>
      <p:sp>
        <p:nvSpPr>
          <p:cNvPr id="44" name="Овал 43"/>
          <p:cNvSpPr/>
          <p:nvPr/>
        </p:nvSpPr>
        <p:spPr>
          <a:xfrm>
            <a:off x="8950561" y="2894042"/>
            <a:ext cx="1521556" cy="399548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1C</a:t>
            </a:r>
            <a:r>
              <a:rPr lang="en-A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Документооборот</a:t>
            </a:r>
            <a:endParaRPr lang="ru-RU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52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0303952" y="5762823"/>
            <a:ext cx="551167" cy="377825"/>
          </a:xfrm>
        </p:spPr>
        <p:txBody>
          <a:bodyPr/>
          <a:lstStyle/>
          <a:p>
            <a:pPr defTabSz="457182">
              <a:defRPr/>
            </a:pPr>
            <a:fld id="{64418C10-7755-4206-BC86-2C400E1EB00F}" type="slidenum">
              <a:rPr lang="ru-RU" sz="1000">
                <a:solidFill>
                  <a:prstClr val="white"/>
                </a:solidFill>
                <a:latin typeface="Calibri" panose="020F0502020204030204"/>
              </a:rPr>
              <a:pPr defTabSz="457182">
                <a:defRPr/>
              </a:pPr>
              <a:t>2</a:t>
            </a:fld>
            <a:endParaRPr lang="ru-RU" sz="100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963005" y="393330"/>
            <a:ext cx="10759670" cy="6059393"/>
            <a:chOff x="632252" y="956447"/>
            <a:chExt cx="7871127" cy="4654564"/>
          </a:xfrm>
        </p:grpSpPr>
        <p:cxnSp>
          <p:nvCxnSpPr>
            <p:cNvPr id="8" name="Gerade Verbindung 51">
              <a:extLst>
                <a:ext uri="{FF2B5EF4-FFF2-40B4-BE49-F238E27FC236}">
                  <a16:creationId xmlns:a16="http://schemas.microsoft.com/office/drawing/2014/main" id="{7F1D9352-74F4-E093-7108-DB9AC80EAF0A}"/>
                </a:ext>
              </a:extLst>
            </p:cNvPr>
            <p:cNvCxnSpPr>
              <a:stCxn id="67" idx="2"/>
            </p:cNvCxnSpPr>
            <p:nvPr/>
          </p:nvCxnSpPr>
          <p:spPr bwMode="gray">
            <a:xfrm flipH="1">
              <a:off x="3519932" y="2378032"/>
              <a:ext cx="4152" cy="2397759"/>
            </a:xfrm>
            <a:prstGeom prst="line">
              <a:avLst/>
            </a:prstGeom>
            <a:noFill/>
            <a:ln w="19050" cap="rnd">
              <a:solidFill>
                <a:sysClr val="window" lastClr="FFFFFF">
                  <a:lumMod val="65000"/>
                </a:sysClr>
              </a:solidFill>
              <a:prstDash val="solid"/>
              <a:round/>
            </a:ln>
          </p:spPr>
        </p:cxnSp>
        <p:sp>
          <p:nvSpPr>
            <p:cNvPr id="9" name="Google Shape;1213;p35"/>
            <p:cNvSpPr/>
            <p:nvPr/>
          </p:nvSpPr>
          <p:spPr>
            <a:xfrm>
              <a:off x="632252" y="4511241"/>
              <a:ext cx="1041893" cy="1039740"/>
            </a:xfrm>
            <a:prstGeom prst="roundRect">
              <a:avLst>
                <a:gd name="adj" fmla="val 16667"/>
              </a:avLst>
            </a:prstGeom>
            <a:solidFill>
              <a:srgbClr val="ECECEC"/>
            </a:solidFill>
            <a:ln>
              <a:noFill/>
            </a:ln>
            <a:effectLst>
              <a:outerShdw blurRad="190500" dir="2700000" algn="tl" rotWithShape="0">
                <a:prstClr val="black">
                  <a:alpha val="35000"/>
                </a:prst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808006">
                <a:defRPr/>
              </a:pPr>
              <a:endParaRPr lang="ru-RU" sz="8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Google Shape;1213;p35"/>
            <p:cNvSpPr/>
            <p:nvPr/>
          </p:nvSpPr>
          <p:spPr>
            <a:xfrm>
              <a:off x="1591467" y="4504088"/>
              <a:ext cx="1041893" cy="1039740"/>
            </a:xfrm>
            <a:prstGeom prst="roundRect">
              <a:avLst>
                <a:gd name="adj" fmla="val 16667"/>
              </a:avLst>
            </a:prstGeom>
            <a:solidFill>
              <a:srgbClr val="ECECEC"/>
            </a:solidFill>
            <a:ln>
              <a:noFill/>
            </a:ln>
            <a:effectLst>
              <a:outerShdw blurRad="190500" dir="2700000" algn="tl" rotWithShape="0">
                <a:prstClr val="black">
                  <a:alpha val="35000"/>
                </a:prst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808006">
                <a:defRPr/>
              </a:pPr>
              <a:endParaRPr lang="ru-RU" sz="8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Google Shape;1213;p35"/>
            <p:cNvSpPr/>
            <p:nvPr/>
          </p:nvSpPr>
          <p:spPr>
            <a:xfrm>
              <a:off x="2478039" y="4498557"/>
              <a:ext cx="1041893" cy="1039740"/>
            </a:xfrm>
            <a:prstGeom prst="roundRect">
              <a:avLst>
                <a:gd name="adj" fmla="val 16667"/>
              </a:avLst>
            </a:prstGeom>
            <a:solidFill>
              <a:srgbClr val="ECECEC"/>
            </a:solidFill>
            <a:ln>
              <a:noFill/>
            </a:ln>
            <a:effectLst>
              <a:outerShdw blurRad="190500" dir="2700000" algn="tl" rotWithShape="0">
                <a:prstClr val="black">
                  <a:alpha val="35000"/>
                </a:prst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808006">
                <a:defRPr/>
              </a:pPr>
              <a:endParaRPr lang="ru-RU" sz="8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Parallélogramme 24">
              <a:extLst>
                <a:ext uri="{FF2B5EF4-FFF2-40B4-BE49-F238E27FC236}">
                  <a16:creationId xmlns:a16="http://schemas.microsoft.com/office/drawing/2014/main" id="{00E4470B-175B-7841-930B-B2CB9E4C33FD}"/>
                </a:ext>
              </a:extLst>
            </p:cNvPr>
            <p:cNvSpPr/>
            <p:nvPr/>
          </p:nvSpPr>
          <p:spPr>
            <a:xfrm flipH="1">
              <a:off x="1252216" y="3510384"/>
              <a:ext cx="627646" cy="675906"/>
            </a:xfrm>
            <a:prstGeom prst="parallelogram">
              <a:avLst>
                <a:gd name="adj" fmla="val 54189"/>
              </a:avLst>
            </a:prstGeom>
            <a:solidFill>
              <a:sysClr val="windowText" lastClr="000000">
                <a:lumMod val="65000"/>
                <a:lumOff val="35000"/>
              </a:sysClr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sz="14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Parallélogramme 24">
              <a:extLst>
                <a:ext uri="{FF2B5EF4-FFF2-40B4-BE49-F238E27FC236}">
                  <a16:creationId xmlns:a16="http://schemas.microsoft.com/office/drawing/2014/main" id="{00E4470B-175B-7841-930B-B2CB9E4C33FD}"/>
                </a:ext>
              </a:extLst>
            </p:cNvPr>
            <p:cNvSpPr/>
            <p:nvPr/>
          </p:nvSpPr>
          <p:spPr>
            <a:xfrm flipH="1">
              <a:off x="2143042" y="3217758"/>
              <a:ext cx="654295" cy="675906"/>
            </a:xfrm>
            <a:prstGeom prst="parallelogram">
              <a:avLst>
                <a:gd name="adj" fmla="val 54189"/>
              </a:avLst>
            </a:prstGeom>
            <a:solidFill>
              <a:sysClr val="windowText" lastClr="000000">
                <a:lumMod val="65000"/>
                <a:lumOff val="35000"/>
              </a:sysClr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sz="14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Parallélogramme 22">
              <a:extLst>
                <a:ext uri="{FF2B5EF4-FFF2-40B4-BE49-F238E27FC236}">
                  <a16:creationId xmlns:a16="http://schemas.microsoft.com/office/drawing/2014/main" id="{F62C3571-66CC-6447-90C2-6EC84E72FABC}"/>
                </a:ext>
              </a:extLst>
            </p:cNvPr>
            <p:cNvSpPr/>
            <p:nvPr/>
          </p:nvSpPr>
          <p:spPr>
            <a:xfrm>
              <a:off x="1593464" y="3217080"/>
              <a:ext cx="850856" cy="968646"/>
            </a:xfrm>
            <a:prstGeom prst="parallelogram">
              <a:avLst>
                <a:gd name="adj" fmla="val 50862"/>
              </a:avLst>
            </a:prstGeom>
            <a:solidFill>
              <a:srgbClr val="807F7E"/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Parallélogramme 24">
              <a:extLst>
                <a:ext uri="{FF2B5EF4-FFF2-40B4-BE49-F238E27FC236}">
                  <a16:creationId xmlns:a16="http://schemas.microsoft.com/office/drawing/2014/main" id="{00E4470B-175B-7841-930B-B2CB9E4C33FD}"/>
                </a:ext>
              </a:extLst>
            </p:cNvPr>
            <p:cNvSpPr/>
            <p:nvPr/>
          </p:nvSpPr>
          <p:spPr>
            <a:xfrm flipH="1">
              <a:off x="2998705" y="2927265"/>
              <a:ext cx="719265" cy="675906"/>
            </a:xfrm>
            <a:prstGeom prst="parallelogram">
              <a:avLst>
                <a:gd name="adj" fmla="val 54189"/>
              </a:avLst>
            </a:prstGeom>
            <a:solidFill>
              <a:sysClr val="windowText" lastClr="000000">
                <a:lumMod val="65000"/>
                <a:lumOff val="35000"/>
              </a:sysClr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sz="14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Parallélogramme 22">
              <a:extLst>
                <a:ext uri="{FF2B5EF4-FFF2-40B4-BE49-F238E27FC236}">
                  <a16:creationId xmlns:a16="http://schemas.microsoft.com/office/drawing/2014/main" id="{F62C3571-66CC-6447-90C2-6EC84E72FABC}"/>
                </a:ext>
              </a:extLst>
            </p:cNvPr>
            <p:cNvSpPr/>
            <p:nvPr/>
          </p:nvSpPr>
          <p:spPr>
            <a:xfrm>
              <a:off x="2492796" y="2927264"/>
              <a:ext cx="850856" cy="966863"/>
            </a:xfrm>
            <a:prstGeom prst="parallelogram">
              <a:avLst>
                <a:gd name="adj" fmla="val 50862"/>
              </a:avLst>
            </a:prstGeom>
            <a:solidFill>
              <a:srgbClr val="807F7E"/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Parallélogramme 29">
              <a:extLst>
                <a:ext uri="{FF2B5EF4-FFF2-40B4-BE49-F238E27FC236}">
                  <a16:creationId xmlns:a16="http://schemas.microsoft.com/office/drawing/2014/main" id="{B42335AA-044B-D24D-A343-2EC616172DA2}"/>
                </a:ext>
              </a:extLst>
            </p:cNvPr>
            <p:cNvSpPr/>
            <p:nvPr/>
          </p:nvSpPr>
          <p:spPr>
            <a:xfrm flipH="1">
              <a:off x="6759215" y="1766983"/>
              <a:ext cx="743490" cy="675906"/>
            </a:xfrm>
            <a:prstGeom prst="parallelogram">
              <a:avLst>
                <a:gd name="adj" fmla="val 54567"/>
              </a:avLst>
            </a:prstGeom>
            <a:solidFill>
              <a:srgbClr val="ED7D31">
                <a:lumMod val="50000"/>
              </a:srgbClr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Parallélogramme 26">
              <a:extLst>
                <a:ext uri="{FF2B5EF4-FFF2-40B4-BE49-F238E27FC236}">
                  <a16:creationId xmlns:a16="http://schemas.microsoft.com/office/drawing/2014/main" id="{CD45921C-86B1-2047-B3C9-190396063A86}"/>
                </a:ext>
              </a:extLst>
            </p:cNvPr>
            <p:cNvSpPr/>
            <p:nvPr/>
          </p:nvSpPr>
          <p:spPr>
            <a:xfrm flipH="1">
              <a:off x="5850221" y="2055520"/>
              <a:ext cx="672108" cy="681974"/>
            </a:xfrm>
            <a:prstGeom prst="parallelogram">
              <a:avLst>
                <a:gd name="adj" fmla="val 54567"/>
              </a:avLst>
            </a:prstGeom>
            <a:gradFill flip="none" rotWithShape="1">
              <a:gsLst>
                <a:gs pos="78000">
                  <a:srgbClr val="FFB400"/>
                </a:gs>
                <a:gs pos="34000">
                  <a:srgbClr val="7E5A00"/>
                </a:gs>
                <a:gs pos="54000">
                  <a:srgbClr val="C48A00"/>
                </a:gs>
                <a:gs pos="100000">
                  <a:srgbClr val="FFB400"/>
                </a:gs>
              </a:gsLst>
              <a:lin ang="9600000" scaled="0"/>
              <a:tileRect/>
            </a:gra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sz="14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Parallélogramme 28">
              <a:extLst>
                <a:ext uri="{FF2B5EF4-FFF2-40B4-BE49-F238E27FC236}">
                  <a16:creationId xmlns:a16="http://schemas.microsoft.com/office/drawing/2014/main" id="{AE9BF476-8DCF-A14E-BB57-97D346B15D27}"/>
                </a:ext>
              </a:extLst>
            </p:cNvPr>
            <p:cNvSpPr/>
            <p:nvPr/>
          </p:nvSpPr>
          <p:spPr>
            <a:xfrm>
              <a:off x="6231219" y="1760966"/>
              <a:ext cx="864727" cy="976987"/>
            </a:xfrm>
            <a:prstGeom prst="parallelogram">
              <a:avLst>
                <a:gd name="adj" fmla="val 51288"/>
              </a:avLst>
            </a:prstGeom>
            <a:solidFill>
              <a:srgbClr val="F9941C"/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Parallélogramme 13">
              <a:extLst>
                <a:ext uri="{FF2B5EF4-FFF2-40B4-BE49-F238E27FC236}">
                  <a16:creationId xmlns:a16="http://schemas.microsoft.com/office/drawing/2014/main" id="{DFF1F293-5E96-284B-AE39-B2BA2ED9CF83}"/>
                </a:ext>
              </a:extLst>
            </p:cNvPr>
            <p:cNvSpPr/>
            <p:nvPr/>
          </p:nvSpPr>
          <p:spPr>
            <a:xfrm flipH="1">
              <a:off x="4871187" y="2349746"/>
              <a:ext cx="694973" cy="675906"/>
            </a:xfrm>
            <a:prstGeom prst="parallelogram">
              <a:avLst>
                <a:gd name="adj" fmla="val 54104"/>
              </a:avLst>
            </a:prstGeom>
            <a:solidFill>
              <a:srgbClr val="0070C0"/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sz="14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Parallélogramme 14">
              <a:extLst>
                <a:ext uri="{FF2B5EF4-FFF2-40B4-BE49-F238E27FC236}">
                  <a16:creationId xmlns:a16="http://schemas.microsoft.com/office/drawing/2014/main" id="{4DC4658E-05F0-FC4F-98FB-162F7A9BD64D}"/>
                </a:ext>
              </a:extLst>
            </p:cNvPr>
            <p:cNvSpPr/>
            <p:nvPr/>
          </p:nvSpPr>
          <p:spPr>
            <a:xfrm>
              <a:off x="5263324" y="2054714"/>
              <a:ext cx="865877" cy="970850"/>
            </a:xfrm>
            <a:prstGeom prst="parallelogram">
              <a:avLst>
                <a:gd name="adj" fmla="val 50862"/>
              </a:avLst>
            </a:prstGeom>
            <a:solidFill>
              <a:srgbClr val="FFCA08"/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sz="14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" name="Parallélogramme 24">
              <a:extLst>
                <a:ext uri="{FF2B5EF4-FFF2-40B4-BE49-F238E27FC236}">
                  <a16:creationId xmlns:a16="http://schemas.microsoft.com/office/drawing/2014/main" id="{00E4470B-175B-7841-930B-B2CB9E4C33FD}"/>
                </a:ext>
              </a:extLst>
            </p:cNvPr>
            <p:cNvSpPr/>
            <p:nvPr/>
          </p:nvSpPr>
          <p:spPr>
            <a:xfrm flipH="1">
              <a:off x="3929429" y="2628163"/>
              <a:ext cx="711658" cy="680725"/>
            </a:xfrm>
            <a:prstGeom prst="parallelogram">
              <a:avLst>
                <a:gd name="adj" fmla="val 54189"/>
              </a:avLst>
            </a:prstGeom>
            <a:solidFill>
              <a:srgbClr val="001E42"/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sz="14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Parallélogramme 22">
              <a:extLst>
                <a:ext uri="{FF2B5EF4-FFF2-40B4-BE49-F238E27FC236}">
                  <a16:creationId xmlns:a16="http://schemas.microsoft.com/office/drawing/2014/main" id="{F62C3571-66CC-6447-90C2-6EC84E72FABC}"/>
                </a:ext>
              </a:extLst>
            </p:cNvPr>
            <p:cNvSpPr/>
            <p:nvPr/>
          </p:nvSpPr>
          <p:spPr>
            <a:xfrm>
              <a:off x="3358287" y="2621240"/>
              <a:ext cx="890549" cy="980509"/>
            </a:xfrm>
            <a:prstGeom prst="parallelogram">
              <a:avLst>
                <a:gd name="adj" fmla="val 47906"/>
              </a:avLst>
            </a:prstGeom>
            <a:solidFill>
              <a:srgbClr val="002F67"/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Parallélogramme 20">
              <a:extLst>
                <a:ext uri="{FF2B5EF4-FFF2-40B4-BE49-F238E27FC236}">
                  <a16:creationId xmlns:a16="http://schemas.microsoft.com/office/drawing/2014/main" id="{69471903-D7DE-804E-8748-6738591D85E4}"/>
                </a:ext>
              </a:extLst>
            </p:cNvPr>
            <p:cNvSpPr/>
            <p:nvPr/>
          </p:nvSpPr>
          <p:spPr>
            <a:xfrm>
              <a:off x="4317986" y="2343010"/>
              <a:ext cx="874668" cy="965878"/>
            </a:xfrm>
            <a:prstGeom prst="parallelogram">
              <a:avLst>
                <a:gd name="adj" fmla="val 50862"/>
              </a:avLst>
            </a:prstGeom>
            <a:solidFill>
              <a:srgbClr val="0070C0"/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sz="14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D6212885-FD5D-CC43-B225-02DEA91EA5A9}"/>
                </a:ext>
              </a:extLst>
            </p:cNvPr>
            <p:cNvSpPr/>
            <p:nvPr/>
          </p:nvSpPr>
          <p:spPr>
            <a:xfrm rot="1594421">
              <a:off x="7268552" y="956447"/>
              <a:ext cx="970756" cy="1689116"/>
            </a:xfrm>
            <a:custGeom>
              <a:avLst/>
              <a:gdLst>
                <a:gd name="connsiteX0" fmla="*/ 547302 w 1094603"/>
                <a:gd name="connsiteY0" fmla="*/ 0 h 1737610"/>
                <a:gd name="connsiteX1" fmla="*/ 1094603 w 1094603"/>
                <a:gd name="connsiteY1" fmla="*/ 547302 h 1737610"/>
                <a:gd name="connsiteX2" fmla="*/ 790808 w 1094603"/>
                <a:gd name="connsiteY2" fmla="*/ 547302 h 1737610"/>
                <a:gd name="connsiteX3" fmla="*/ 784457 w 1094603"/>
                <a:gd name="connsiteY3" fmla="*/ 1492134 h 1737610"/>
                <a:gd name="connsiteX4" fmla="*/ 293689 w 1094603"/>
                <a:gd name="connsiteY4" fmla="*/ 1737610 h 1737610"/>
                <a:gd name="connsiteX5" fmla="*/ 301690 w 1094603"/>
                <a:gd name="connsiteY5" fmla="*/ 547302 h 1737610"/>
                <a:gd name="connsiteX6" fmla="*/ 0 w 1094603"/>
                <a:gd name="connsiteY6" fmla="*/ 547302 h 173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603" h="1737610">
                  <a:moveTo>
                    <a:pt x="547302" y="0"/>
                  </a:moveTo>
                  <a:lnTo>
                    <a:pt x="1094603" y="547302"/>
                  </a:lnTo>
                  <a:lnTo>
                    <a:pt x="790808" y="547302"/>
                  </a:lnTo>
                  <a:lnTo>
                    <a:pt x="784457" y="1492134"/>
                  </a:lnTo>
                  <a:lnTo>
                    <a:pt x="293689" y="1737610"/>
                  </a:lnTo>
                  <a:lnTo>
                    <a:pt x="301690" y="547302"/>
                  </a:lnTo>
                  <a:lnTo>
                    <a:pt x="0" y="547302"/>
                  </a:lnTo>
                  <a:close/>
                </a:path>
              </a:pathLst>
            </a:custGeom>
            <a:solidFill>
              <a:srgbClr val="D25332"/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noAutofit/>
            </a:bodyPr>
            <a:lstStyle/>
            <a:p>
              <a:pPr defTabSz="914363">
                <a:defRPr/>
              </a:pPr>
              <a:endParaRPr lang="fr-FR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50C5D15B-E7B7-074E-929F-D4A62AF04AE8}"/>
                </a:ext>
              </a:extLst>
            </p:cNvPr>
            <p:cNvCxnSpPr>
              <a:cxnSpLocks/>
            </p:cNvCxnSpPr>
            <p:nvPr/>
          </p:nvCxnSpPr>
          <p:spPr>
            <a:xfrm>
              <a:off x="760803" y="5604739"/>
              <a:ext cx="7742576" cy="627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9" name="Google Shape;1215;p35"/>
            <p:cNvSpPr/>
            <p:nvPr/>
          </p:nvSpPr>
          <p:spPr>
            <a:xfrm>
              <a:off x="2952732" y="2950460"/>
              <a:ext cx="279835" cy="261306"/>
            </a:xfrm>
            <a:custGeom>
              <a:avLst/>
              <a:gdLst/>
              <a:ahLst/>
              <a:cxnLst/>
              <a:rect l="l" t="t" r="r" b="b"/>
              <a:pathLst>
                <a:path w="1608" h="1600" extrusionOk="0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rgbClr val="006985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defTabSz="914363">
                <a:defRPr/>
              </a:pPr>
              <a:endParaRPr sz="4800" kern="0">
                <a:solidFill>
                  <a:srgbClr val="999999"/>
                </a:solidFill>
                <a:latin typeface="Calibri" panose="020F0502020204030204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217;p35"/>
            <p:cNvSpPr txBox="1"/>
            <p:nvPr/>
          </p:nvSpPr>
          <p:spPr>
            <a:xfrm>
              <a:off x="2967199" y="2904903"/>
              <a:ext cx="250901" cy="325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 defTabSz="914363">
                <a:buClr>
                  <a:srgbClr val="FFFFFF"/>
                </a:buClr>
                <a:buSzPts val="8000"/>
                <a:defRPr/>
              </a:pPr>
              <a:r>
                <a:rPr lang="ru-RU" sz="2000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</a:t>
              </a:r>
              <a:endParaRPr sz="2000" kern="0" dirty="0">
                <a:solidFill>
                  <a:prstClr val="black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" name="Google Shape;1215;p35"/>
            <p:cNvSpPr/>
            <p:nvPr/>
          </p:nvSpPr>
          <p:spPr>
            <a:xfrm>
              <a:off x="3808050" y="2666798"/>
              <a:ext cx="279835" cy="261306"/>
            </a:xfrm>
            <a:custGeom>
              <a:avLst/>
              <a:gdLst/>
              <a:ahLst/>
              <a:cxnLst/>
              <a:rect l="l" t="t" r="r" b="b"/>
              <a:pathLst>
                <a:path w="1608" h="1600" extrusionOk="0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rgbClr val="006985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defTabSz="914363">
                <a:defRPr/>
              </a:pPr>
              <a:endParaRPr sz="4800" kern="0">
                <a:solidFill>
                  <a:srgbClr val="999999"/>
                </a:solidFill>
                <a:latin typeface="Calibri" panose="020F0502020204030204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217;p35"/>
            <p:cNvSpPr txBox="1"/>
            <p:nvPr/>
          </p:nvSpPr>
          <p:spPr>
            <a:xfrm>
              <a:off x="3822517" y="2621240"/>
              <a:ext cx="250901" cy="325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 defTabSz="914363">
                <a:buClr>
                  <a:srgbClr val="FFFFFF"/>
                </a:buClr>
                <a:buSzPts val="8000"/>
                <a:defRPr/>
              </a:pPr>
              <a:r>
                <a:rPr lang="ru-RU" sz="2000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</a:t>
              </a:r>
              <a:endParaRPr sz="2000" kern="0" dirty="0">
                <a:solidFill>
                  <a:prstClr val="black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3" name="Google Shape;1215;p35"/>
            <p:cNvSpPr/>
            <p:nvPr/>
          </p:nvSpPr>
          <p:spPr>
            <a:xfrm>
              <a:off x="4757828" y="2379431"/>
              <a:ext cx="279835" cy="261306"/>
            </a:xfrm>
            <a:custGeom>
              <a:avLst/>
              <a:gdLst/>
              <a:ahLst/>
              <a:cxnLst/>
              <a:rect l="l" t="t" r="r" b="b"/>
              <a:pathLst>
                <a:path w="1608" h="1600" extrusionOk="0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rgbClr val="006985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defTabSz="914363">
                <a:defRPr/>
              </a:pPr>
              <a:endParaRPr sz="4800" kern="0">
                <a:solidFill>
                  <a:srgbClr val="999999"/>
                </a:solidFill>
                <a:latin typeface="Calibri" panose="020F0502020204030204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217;p35"/>
            <p:cNvSpPr txBox="1"/>
            <p:nvPr/>
          </p:nvSpPr>
          <p:spPr>
            <a:xfrm>
              <a:off x="4772295" y="2333873"/>
              <a:ext cx="250901" cy="325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 defTabSz="914363">
                <a:buClr>
                  <a:srgbClr val="FFFFFF"/>
                </a:buClr>
                <a:buSzPts val="8000"/>
                <a:defRPr/>
              </a:pPr>
              <a:r>
                <a:rPr lang="ru-RU" sz="2000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</a:t>
              </a:r>
              <a:endParaRPr sz="2000" kern="0" dirty="0">
                <a:solidFill>
                  <a:prstClr val="black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5" name="Google Shape;1215;p35"/>
            <p:cNvSpPr/>
            <p:nvPr/>
          </p:nvSpPr>
          <p:spPr>
            <a:xfrm>
              <a:off x="5698108" y="2088386"/>
              <a:ext cx="279835" cy="261306"/>
            </a:xfrm>
            <a:custGeom>
              <a:avLst/>
              <a:gdLst/>
              <a:ahLst/>
              <a:cxnLst/>
              <a:rect l="l" t="t" r="r" b="b"/>
              <a:pathLst>
                <a:path w="1608" h="1600" extrusionOk="0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rgbClr val="006985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defTabSz="914363">
                <a:defRPr/>
              </a:pPr>
              <a:endParaRPr sz="4800" kern="0">
                <a:solidFill>
                  <a:srgbClr val="999999"/>
                </a:solidFill>
                <a:latin typeface="Calibri" panose="020F0502020204030204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217;p35"/>
            <p:cNvSpPr txBox="1"/>
            <p:nvPr/>
          </p:nvSpPr>
          <p:spPr>
            <a:xfrm>
              <a:off x="5712575" y="2042828"/>
              <a:ext cx="250901" cy="325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 defTabSz="914363">
                <a:buClr>
                  <a:srgbClr val="FFFFFF"/>
                </a:buClr>
                <a:buSzPts val="8000"/>
                <a:defRPr/>
              </a:pPr>
              <a:r>
                <a:rPr lang="ru-RU" sz="2000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</a:t>
              </a:r>
              <a:endParaRPr sz="2000" kern="0" dirty="0">
                <a:solidFill>
                  <a:prstClr val="black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7" name="Google Shape;1215;p35"/>
            <p:cNvSpPr/>
            <p:nvPr/>
          </p:nvSpPr>
          <p:spPr>
            <a:xfrm>
              <a:off x="6677118" y="1799909"/>
              <a:ext cx="279835" cy="261306"/>
            </a:xfrm>
            <a:custGeom>
              <a:avLst/>
              <a:gdLst/>
              <a:ahLst/>
              <a:cxnLst/>
              <a:rect l="l" t="t" r="r" b="b"/>
              <a:pathLst>
                <a:path w="1608" h="1600" extrusionOk="0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rgbClr val="006985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defTabSz="914363">
                <a:defRPr/>
              </a:pPr>
              <a:endParaRPr sz="4800" kern="0">
                <a:solidFill>
                  <a:srgbClr val="999999"/>
                </a:solidFill>
                <a:latin typeface="Calibri" panose="020F0502020204030204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217;p35"/>
            <p:cNvSpPr txBox="1"/>
            <p:nvPr/>
          </p:nvSpPr>
          <p:spPr>
            <a:xfrm>
              <a:off x="6691585" y="1754351"/>
              <a:ext cx="250901" cy="325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 defTabSz="914363">
                <a:buClr>
                  <a:srgbClr val="FFFFFF"/>
                </a:buClr>
                <a:buSzPts val="8000"/>
                <a:defRPr/>
              </a:pPr>
              <a:r>
                <a:rPr lang="ru-RU" sz="2000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</a:t>
              </a:r>
              <a:endParaRPr sz="2000" kern="0" dirty="0">
                <a:solidFill>
                  <a:prstClr val="black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9" name="Google Shape;1215;p35"/>
            <p:cNvSpPr/>
            <p:nvPr/>
          </p:nvSpPr>
          <p:spPr>
            <a:xfrm>
              <a:off x="7707565" y="1567607"/>
              <a:ext cx="279835" cy="261306"/>
            </a:xfrm>
            <a:custGeom>
              <a:avLst/>
              <a:gdLst/>
              <a:ahLst/>
              <a:cxnLst/>
              <a:rect l="l" t="t" r="r" b="b"/>
              <a:pathLst>
                <a:path w="1608" h="1600" extrusionOk="0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rgbClr val="006985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defTabSz="914363">
                <a:defRPr/>
              </a:pPr>
              <a:endParaRPr sz="4800" kern="0">
                <a:solidFill>
                  <a:srgbClr val="999999"/>
                </a:solidFill>
                <a:latin typeface="Calibri" panose="020F0502020204030204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217;p35"/>
            <p:cNvSpPr txBox="1"/>
            <p:nvPr/>
          </p:nvSpPr>
          <p:spPr>
            <a:xfrm>
              <a:off x="7716356" y="1525007"/>
              <a:ext cx="250901" cy="325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 defTabSz="914363">
                <a:buClr>
                  <a:srgbClr val="FFFFFF"/>
                </a:buClr>
                <a:buSzPts val="8000"/>
                <a:defRPr/>
              </a:pPr>
              <a:r>
                <a:rPr lang="ru-RU" sz="2000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</a:t>
              </a:r>
              <a:endParaRPr sz="2000" kern="0" dirty="0">
                <a:solidFill>
                  <a:prstClr val="black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" name="Rechteck 46">
              <a:extLst>
                <a:ext uri="{FF2B5EF4-FFF2-40B4-BE49-F238E27FC236}">
                  <a16:creationId xmlns:a16="http://schemas.microsoft.com/office/drawing/2014/main" id="{E2158393-CFD9-466C-E7C5-3148F896F55C}"/>
                </a:ext>
              </a:extLst>
            </p:cNvPr>
            <p:cNvSpPr/>
            <p:nvPr/>
          </p:nvSpPr>
          <p:spPr bwMode="gray">
            <a:xfrm>
              <a:off x="4777819" y="2174519"/>
              <a:ext cx="590838" cy="130031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 wrap="square" lIns="0" tIns="0" rIns="0" bIns="0" rtlCol="0" anchor="t">
              <a:spAutoFit/>
            </a:bodyPr>
            <a:lstStyle/>
            <a:p>
              <a:pPr defTabSz="914363">
                <a:defRPr/>
              </a:pPr>
              <a:r>
                <a:rPr lang="ru-RU" sz="1100" kern="0" dirty="0">
                  <a:solidFill>
                    <a:srgbClr val="6F6F6F"/>
                  </a:solidFill>
                  <a:latin typeface="Calibri" panose="020F0502020204030204"/>
                </a:rPr>
                <a:t>Год</a:t>
              </a:r>
              <a:r>
                <a:rPr lang="en-US" sz="1100" kern="0" dirty="0">
                  <a:solidFill>
                    <a:srgbClr val="6F6F6F"/>
                  </a:solidFill>
                  <a:latin typeface="Calibri" panose="020F0502020204030204"/>
                </a:rPr>
                <a:t> 20</a:t>
              </a:r>
              <a:r>
                <a:rPr lang="ru-RU" sz="1100" kern="0" dirty="0">
                  <a:solidFill>
                    <a:srgbClr val="6F6F6F"/>
                  </a:solidFill>
                  <a:latin typeface="Calibri" panose="020F0502020204030204"/>
                </a:rPr>
                <a:t>25</a:t>
              </a:r>
              <a:endParaRPr lang="en-US" sz="1100" kern="0" dirty="0">
                <a:solidFill>
                  <a:srgbClr val="6F6F6F"/>
                </a:solidFill>
                <a:latin typeface="Calibri" panose="020F0502020204030204"/>
              </a:endParaRPr>
            </a:p>
          </p:txBody>
        </p:sp>
        <p:sp>
          <p:nvSpPr>
            <p:cNvPr id="43" name="Rechteck 46">
              <a:extLst>
                <a:ext uri="{FF2B5EF4-FFF2-40B4-BE49-F238E27FC236}">
                  <a16:creationId xmlns:a16="http://schemas.microsoft.com/office/drawing/2014/main" id="{E2158393-CFD9-466C-E7C5-3148F896F55C}"/>
                </a:ext>
              </a:extLst>
            </p:cNvPr>
            <p:cNvSpPr/>
            <p:nvPr/>
          </p:nvSpPr>
          <p:spPr bwMode="gray">
            <a:xfrm>
              <a:off x="5717829" y="1865915"/>
              <a:ext cx="591051" cy="130031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 wrap="square" lIns="0" tIns="0" rIns="0" bIns="0" rtlCol="0" anchor="t">
              <a:spAutoFit/>
            </a:bodyPr>
            <a:lstStyle/>
            <a:p>
              <a:pPr defTabSz="914363">
                <a:defRPr/>
              </a:pPr>
              <a:r>
                <a:rPr lang="ru-RU" sz="1100" kern="0" dirty="0">
                  <a:solidFill>
                    <a:srgbClr val="6F6F6F"/>
                  </a:solidFill>
                  <a:latin typeface="Calibri" panose="020F0502020204030204"/>
                </a:rPr>
                <a:t>Год</a:t>
              </a:r>
              <a:r>
                <a:rPr lang="en-US" sz="1100" kern="0" dirty="0">
                  <a:solidFill>
                    <a:srgbClr val="6F6F6F"/>
                  </a:solidFill>
                  <a:latin typeface="Calibri" panose="020F0502020204030204"/>
                </a:rPr>
                <a:t> 20</a:t>
              </a:r>
              <a:r>
                <a:rPr lang="ru-RU" sz="1100" kern="0" dirty="0">
                  <a:solidFill>
                    <a:srgbClr val="6F6F6F"/>
                  </a:solidFill>
                  <a:latin typeface="Calibri" panose="020F0502020204030204"/>
                </a:rPr>
                <a:t>26</a:t>
              </a:r>
              <a:endParaRPr lang="en-US" sz="1100" kern="0" dirty="0">
                <a:solidFill>
                  <a:srgbClr val="6F6F6F"/>
                </a:solidFill>
                <a:latin typeface="Calibri" panose="020F0502020204030204"/>
              </a:endParaRPr>
            </a:p>
          </p:txBody>
        </p:sp>
        <p:sp>
          <p:nvSpPr>
            <p:cNvPr id="44" name="Rechteck 46">
              <a:extLst>
                <a:ext uri="{FF2B5EF4-FFF2-40B4-BE49-F238E27FC236}">
                  <a16:creationId xmlns:a16="http://schemas.microsoft.com/office/drawing/2014/main" id="{E2158393-CFD9-466C-E7C5-3148F896F55C}"/>
                </a:ext>
              </a:extLst>
            </p:cNvPr>
            <p:cNvSpPr/>
            <p:nvPr/>
          </p:nvSpPr>
          <p:spPr bwMode="gray">
            <a:xfrm>
              <a:off x="6693558" y="1579284"/>
              <a:ext cx="590090" cy="130031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 wrap="square" lIns="0" tIns="0" rIns="0" bIns="0" rtlCol="0" anchor="t">
              <a:spAutoFit/>
            </a:bodyPr>
            <a:lstStyle/>
            <a:p>
              <a:pPr defTabSz="914363">
                <a:defRPr/>
              </a:pPr>
              <a:r>
                <a:rPr lang="ru-RU" sz="1100" kern="0" dirty="0">
                  <a:solidFill>
                    <a:srgbClr val="6F6F6F"/>
                  </a:solidFill>
                  <a:latin typeface="Calibri" panose="020F0502020204030204"/>
                </a:rPr>
                <a:t>Год</a:t>
              </a:r>
              <a:r>
                <a:rPr lang="en-US" sz="1100" kern="0" dirty="0">
                  <a:solidFill>
                    <a:srgbClr val="6F6F6F"/>
                  </a:solidFill>
                  <a:latin typeface="Calibri" panose="020F0502020204030204"/>
                </a:rPr>
                <a:t> 20</a:t>
              </a:r>
              <a:r>
                <a:rPr lang="ru-RU" sz="1100" kern="0" dirty="0">
                  <a:solidFill>
                    <a:srgbClr val="6F6F6F"/>
                  </a:solidFill>
                  <a:latin typeface="Calibri" panose="020F0502020204030204"/>
                </a:rPr>
                <a:t>27</a:t>
              </a:r>
              <a:endParaRPr lang="en-US" sz="1100" kern="0" dirty="0">
                <a:solidFill>
                  <a:srgbClr val="6F6F6F"/>
                </a:solidFill>
                <a:latin typeface="Calibri" panose="020F0502020204030204"/>
              </a:endParaRPr>
            </a:p>
          </p:txBody>
        </p:sp>
        <p:sp>
          <p:nvSpPr>
            <p:cNvPr id="45" name="Rechteck 46">
              <a:extLst>
                <a:ext uri="{FF2B5EF4-FFF2-40B4-BE49-F238E27FC236}">
                  <a16:creationId xmlns:a16="http://schemas.microsoft.com/office/drawing/2014/main" id="{E2158393-CFD9-466C-E7C5-3148F896F55C}"/>
                </a:ext>
              </a:extLst>
            </p:cNvPr>
            <p:cNvSpPr/>
            <p:nvPr/>
          </p:nvSpPr>
          <p:spPr bwMode="gray">
            <a:xfrm>
              <a:off x="7124969" y="1022023"/>
              <a:ext cx="828270" cy="130031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 wrap="square" lIns="0" tIns="0" rIns="0" bIns="0" rtlCol="0" anchor="t">
              <a:spAutoFit/>
            </a:bodyPr>
            <a:lstStyle/>
            <a:p>
              <a:pPr defTabSz="914363">
                <a:defRPr/>
              </a:pPr>
              <a:r>
                <a:rPr lang="ru-RU" sz="1100" kern="0" dirty="0">
                  <a:solidFill>
                    <a:prstClr val="white">
                      <a:lumMod val="50000"/>
                    </a:prstClr>
                  </a:solidFill>
                  <a:latin typeface="Calibri" panose="020F0502020204030204"/>
                </a:rPr>
                <a:t>Год</a:t>
              </a:r>
              <a:r>
                <a:rPr lang="en-US" sz="1100" kern="0" dirty="0">
                  <a:solidFill>
                    <a:prstClr val="white">
                      <a:lumMod val="50000"/>
                    </a:prstClr>
                  </a:solidFill>
                  <a:latin typeface="Calibri" panose="020F0502020204030204"/>
                </a:rPr>
                <a:t> 20</a:t>
              </a:r>
              <a:r>
                <a:rPr lang="ru-RU" sz="1100" kern="0" dirty="0">
                  <a:solidFill>
                    <a:prstClr val="white">
                      <a:lumMod val="50000"/>
                    </a:prstClr>
                  </a:solidFill>
                  <a:latin typeface="Calibri" panose="020F0502020204030204"/>
                </a:rPr>
                <a:t>28-2030</a:t>
              </a:r>
              <a:endParaRPr lang="en-US" sz="1100" kern="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endParaRPr>
            </a:p>
          </p:txBody>
        </p:sp>
        <p:sp>
          <p:nvSpPr>
            <p:cNvPr id="46" name="Google Shape;1213;p35"/>
            <p:cNvSpPr/>
            <p:nvPr/>
          </p:nvSpPr>
          <p:spPr>
            <a:xfrm>
              <a:off x="3371992" y="4492142"/>
              <a:ext cx="1139292" cy="1039740"/>
            </a:xfrm>
            <a:prstGeom prst="roundRect">
              <a:avLst>
                <a:gd name="adj" fmla="val 16667"/>
              </a:avLst>
            </a:prstGeom>
            <a:solidFill>
              <a:sysClr val="window" lastClr="FFFFFF"/>
            </a:solidFill>
            <a:ln>
              <a:noFill/>
            </a:ln>
            <a:effectLst>
              <a:outerShdw blurRad="190500" dir="2700000" algn="tl" rotWithShape="0">
                <a:prstClr val="black">
                  <a:alpha val="35000"/>
                </a:prst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88896" defTabSz="914363">
                <a:defRPr/>
              </a:pPr>
              <a:endParaRPr lang="ru-RU" sz="8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7" name="Google Shape;1213;p35"/>
            <p:cNvSpPr/>
            <p:nvPr/>
          </p:nvSpPr>
          <p:spPr>
            <a:xfrm>
              <a:off x="4441326" y="4493017"/>
              <a:ext cx="975549" cy="1047728"/>
            </a:xfrm>
            <a:prstGeom prst="roundRect">
              <a:avLst>
                <a:gd name="adj" fmla="val 16667"/>
              </a:avLst>
            </a:prstGeom>
            <a:solidFill>
              <a:sysClr val="window" lastClr="FFFFFF"/>
            </a:solidFill>
            <a:ln>
              <a:noFill/>
            </a:ln>
            <a:effectLst>
              <a:outerShdw blurRad="190500" dir="2700000" algn="tl" rotWithShape="0">
                <a:prstClr val="black">
                  <a:alpha val="35000"/>
                </a:prst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88896" defTabSz="914363">
                <a:defRPr/>
              </a:pPr>
              <a:r>
                <a:rPr lang="ru-RU" sz="800" kern="0" dirty="0">
                  <a:solidFill>
                    <a:prstClr val="black"/>
                  </a:solidFill>
                  <a:latin typeface="Calibri" panose="020F0502020204030204"/>
                </a:rPr>
                <a:t/>
              </a:r>
              <a:br>
                <a:rPr lang="ru-RU" sz="800" kern="0" dirty="0">
                  <a:solidFill>
                    <a:prstClr val="black"/>
                  </a:solidFill>
                  <a:latin typeface="Calibri" panose="020F0502020204030204"/>
                </a:rPr>
              </a:br>
              <a:endParaRPr lang="ru-RU" sz="8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" name="Google Shape;1213;p35"/>
            <p:cNvSpPr/>
            <p:nvPr/>
          </p:nvSpPr>
          <p:spPr>
            <a:xfrm>
              <a:off x="5388894" y="4489218"/>
              <a:ext cx="998687" cy="1043469"/>
            </a:xfrm>
            <a:prstGeom prst="roundRect">
              <a:avLst>
                <a:gd name="adj" fmla="val 16667"/>
              </a:avLst>
            </a:prstGeom>
            <a:solidFill>
              <a:sysClr val="window" lastClr="FFFFFF"/>
            </a:solidFill>
            <a:ln>
              <a:noFill/>
            </a:ln>
            <a:effectLst>
              <a:outerShdw blurRad="190500" dir="2700000" algn="tl" rotWithShape="0">
                <a:prstClr val="black">
                  <a:alpha val="35000"/>
                </a:prst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88896" defTabSz="914363">
                <a:defRPr/>
              </a:pPr>
              <a:r>
                <a:rPr lang="ru-RU" sz="800" kern="0" dirty="0">
                  <a:solidFill>
                    <a:prstClr val="black"/>
                  </a:solidFill>
                  <a:latin typeface="Calibri" panose="020F0502020204030204"/>
                </a:rPr>
                <a:t/>
              </a:r>
              <a:br>
                <a:rPr lang="ru-RU" sz="800" kern="0" dirty="0">
                  <a:solidFill>
                    <a:prstClr val="black"/>
                  </a:solidFill>
                  <a:latin typeface="Calibri" panose="020F0502020204030204"/>
                </a:rPr>
              </a:br>
              <a:endParaRPr lang="ru-RU" sz="8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9" name="Google Shape;1213;p35"/>
            <p:cNvSpPr/>
            <p:nvPr/>
          </p:nvSpPr>
          <p:spPr>
            <a:xfrm>
              <a:off x="6324615" y="4482236"/>
              <a:ext cx="1016069" cy="1058508"/>
            </a:xfrm>
            <a:prstGeom prst="roundRect">
              <a:avLst>
                <a:gd name="adj" fmla="val 16667"/>
              </a:avLst>
            </a:prstGeom>
            <a:solidFill>
              <a:sysClr val="window" lastClr="FFFFFF"/>
            </a:solidFill>
            <a:ln>
              <a:noFill/>
            </a:ln>
            <a:effectLst>
              <a:outerShdw blurRad="190500" dir="2700000" algn="tl" rotWithShape="0">
                <a:prstClr val="black">
                  <a:alpha val="35000"/>
                </a:prst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88896" defTabSz="914363">
                <a:defRPr/>
              </a:pPr>
              <a:endParaRPr lang="ru-RU" sz="8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" name="Google Shape;1213;p35"/>
            <p:cNvSpPr/>
            <p:nvPr/>
          </p:nvSpPr>
          <p:spPr>
            <a:xfrm>
              <a:off x="7315969" y="4465623"/>
              <a:ext cx="1107807" cy="1073558"/>
            </a:xfrm>
            <a:prstGeom prst="roundRect">
              <a:avLst>
                <a:gd name="adj" fmla="val 16667"/>
              </a:avLst>
            </a:prstGeom>
            <a:solidFill>
              <a:sysClr val="window" lastClr="FFFFFF"/>
            </a:solidFill>
            <a:ln>
              <a:noFill/>
            </a:ln>
            <a:effectLst>
              <a:outerShdw blurRad="190500" dir="2700000" algn="tl" rotWithShape="0">
                <a:prstClr val="black">
                  <a:alpha val="35000"/>
                </a:prst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88896" defTabSz="914363">
                <a:defRPr/>
              </a:pPr>
              <a:endParaRPr lang="ru-RU" sz="8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52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34" idx="2"/>
              <a:endCxn id="53" idx="0"/>
            </p:cNvCxnSpPr>
            <p:nvPr/>
          </p:nvCxnSpPr>
          <p:spPr>
            <a:xfrm flipH="1">
              <a:off x="4895474" y="2659316"/>
              <a:ext cx="2272" cy="1763505"/>
            </a:xfrm>
            <a:prstGeom prst="line">
              <a:avLst/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</p:cxnSp>
        <p:sp>
          <p:nvSpPr>
            <p:cNvPr id="53" name="Diamond 60">
              <a:extLst>
                <a:ext uri="{FF2B5EF4-FFF2-40B4-BE49-F238E27FC236}">
                  <a16:creationId xmlns:a16="http://schemas.microsoft.com/office/drawing/2014/main" id="{C55F0F6C-C978-4121-7D39-079D4211D067}"/>
                </a:ext>
              </a:extLst>
            </p:cNvPr>
            <p:cNvSpPr/>
            <p:nvPr/>
          </p:nvSpPr>
          <p:spPr>
            <a:xfrm>
              <a:off x="4802810" y="4408657"/>
              <a:ext cx="191671" cy="176838"/>
            </a:xfrm>
            <a:prstGeom prst="diamond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>
                <a:defRPr/>
              </a:pPr>
              <a:endParaRPr 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54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36" idx="2"/>
              <a:endCxn id="55" idx="0"/>
            </p:cNvCxnSpPr>
            <p:nvPr/>
          </p:nvCxnSpPr>
          <p:spPr>
            <a:xfrm>
              <a:off x="5838026" y="2368271"/>
              <a:ext cx="696" cy="2054550"/>
            </a:xfrm>
            <a:prstGeom prst="line">
              <a:avLst/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55" name="Diamond 60">
              <a:extLst>
                <a:ext uri="{FF2B5EF4-FFF2-40B4-BE49-F238E27FC236}">
                  <a16:creationId xmlns:a16="http://schemas.microsoft.com/office/drawing/2014/main" id="{C55F0F6C-C978-4121-7D39-079D4211D067}"/>
                </a:ext>
              </a:extLst>
            </p:cNvPr>
            <p:cNvSpPr/>
            <p:nvPr/>
          </p:nvSpPr>
          <p:spPr>
            <a:xfrm>
              <a:off x="5741512" y="4404115"/>
              <a:ext cx="191671" cy="176838"/>
            </a:xfrm>
            <a:prstGeom prst="diamond">
              <a:avLst/>
            </a:prstGeom>
            <a:solidFill>
              <a:srgbClr val="FFCA0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>
                <a:defRPr/>
              </a:pPr>
              <a:endParaRPr 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56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38" idx="2"/>
              <a:endCxn id="58" idx="0"/>
            </p:cNvCxnSpPr>
            <p:nvPr/>
          </p:nvCxnSpPr>
          <p:spPr>
            <a:xfrm>
              <a:off x="6817036" y="2079795"/>
              <a:ext cx="2068" cy="2344920"/>
            </a:xfrm>
            <a:prstGeom prst="line">
              <a:avLst/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58" name="Diamond 60">
              <a:extLst>
                <a:ext uri="{FF2B5EF4-FFF2-40B4-BE49-F238E27FC236}">
                  <a16:creationId xmlns:a16="http://schemas.microsoft.com/office/drawing/2014/main" id="{C55F0F6C-C978-4121-7D39-079D4211D067}"/>
                </a:ext>
              </a:extLst>
            </p:cNvPr>
            <p:cNvSpPr/>
            <p:nvPr/>
          </p:nvSpPr>
          <p:spPr>
            <a:xfrm>
              <a:off x="6723546" y="4402761"/>
              <a:ext cx="191671" cy="176838"/>
            </a:xfrm>
            <a:prstGeom prst="diamond">
              <a:avLst/>
            </a:prstGeom>
            <a:solidFill>
              <a:srgbClr val="F9941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>
                <a:defRPr/>
              </a:pPr>
              <a:endParaRPr 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59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40" idx="2"/>
              <a:endCxn id="60" idx="0"/>
            </p:cNvCxnSpPr>
            <p:nvPr/>
          </p:nvCxnSpPr>
          <p:spPr>
            <a:xfrm>
              <a:off x="7841807" y="1850450"/>
              <a:ext cx="22303" cy="2543366"/>
            </a:xfrm>
            <a:prstGeom prst="line">
              <a:avLst/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60" name="Diamond 60">
              <a:extLst>
                <a:ext uri="{FF2B5EF4-FFF2-40B4-BE49-F238E27FC236}">
                  <a16:creationId xmlns:a16="http://schemas.microsoft.com/office/drawing/2014/main" id="{C55F0F6C-C978-4121-7D39-079D4211D067}"/>
                </a:ext>
              </a:extLst>
            </p:cNvPr>
            <p:cNvSpPr/>
            <p:nvPr/>
          </p:nvSpPr>
          <p:spPr>
            <a:xfrm>
              <a:off x="7768274" y="4393817"/>
              <a:ext cx="191671" cy="176838"/>
            </a:xfrm>
            <a:prstGeom prst="diamond">
              <a:avLst/>
            </a:prstGeom>
            <a:solidFill>
              <a:srgbClr val="D2533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>
                <a:defRPr/>
              </a:pPr>
              <a:endParaRPr 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61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30" idx="2"/>
              <a:endCxn id="62" idx="0"/>
            </p:cNvCxnSpPr>
            <p:nvPr/>
          </p:nvCxnSpPr>
          <p:spPr>
            <a:xfrm>
              <a:off x="3092650" y="3230347"/>
              <a:ext cx="12952" cy="1192475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62" name="Diamond 60">
              <a:extLst>
                <a:ext uri="{FF2B5EF4-FFF2-40B4-BE49-F238E27FC236}">
                  <a16:creationId xmlns:a16="http://schemas.microsoft.com/office/drawing/2014/main" id="{C55F0F6C-C978-4121-7D39-079D4211D067}"/>
                </a:ext>
              </a:extLst>
            </p:cNvPr>
            <p:cNvSpPr/>
            <p:nvPr/>
          </p:nvSpPr>
          <p:spPr>
            <a:xfrm>
              <a:off x="3009766" y="4422822"/>
              <a:ext cx="191671" cy="176838"/>
            </a:xfrm>
            <a:prstGeom prst="diamond">
              <a:avLst/>
            </a:prstGeom>
            <a:solidFill>
              <a:srgbClr val="807F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>
                <a:defRPr/>
              </a:pPr>
              <a:endParaRPr 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63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endCxn id="64" idx="0"/>
            </p:cNvCxnSpPr>
            <p:nvPr/>
          </p:nvCxnSpPr>
          <p:spPr>
            <a:xfrm flipH="1">
              <a:off x="2195746" y="3356693"/>
              <a:ext cx="7706" cy="1072207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88900" dist="25400" dir="18540000" algn="bl" rotWithShape="0">
                <a:prstClr val="black">
                  <a:alpha val="30000"/>
                </a:prstClr>
              </a:outerShdw>
            </a:effectLst>
          </p:spPr>
        </p:cxnSp>
        <p:sp>
          <p:nvSpPr>
            <p:cNvPr id="64" name="Diamond 60">
              <a:extLst>
                <a:ext uri="{FF2B5EF4-FFF2-40B4-BE49-F238E27FC236}">
                  <a16:creationId xmlns:a16="http://schemas.microsoft.com/office/drawing/2014/main" id="{C55F0F6C-C978-4121-7D39-079D4211D067}"/>
                </a:ext>
              </a:extLst>
            </p:cNvPr>
            <p:cNvSpPr/>
            <p:nvPr/>
          </p:nvSpPr>
          <p:spPr>
            <a:xfrm>
              <a:off x="2099910" y="4428900"/>
              <a:ext cx="191671" cy="176838"/>
            </a:xfrm>
            <a:prstGeom prst="diamond">
              <a:avLst/>
            </a:prstGeom>
            <a:solidFill>
              <a:srgbClr val="807F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>
                <a:defRPr/>
              </a:pPr>
              <a:endParaRPr 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5" name="Diamond 60">
              <a:extLst>
                <a:ext uri="{FF2B5EF4-FFF2-40B4-BE49-F238E27FC236}">
                  <a16:creationId xmlns:a16="http://schemas.microsoft.com/office/drawing/2014/main" id="{C55F0F6C-C978-4121-7D39-079D4211D067}"/>
                </a:ext>
              </a:extLst>
            </p:cNvPr>
            <p:cNvSpPr/>
            <p:nvPr/>
          </p:nvSpPr>
          <p:spPr>
            <a:xfrm>
              <a:off x="1143410" y="4419405"/>
              <a:ext cx="191671" cy="176838"/>
            </a:xfrm>
            <a:prstGeom prst="diamond">
              <a:avLst/>
            </a:prstGeom>
            <a:solidFill>
              <a:srgbClr val="807F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>
                <a:defRPr/>
              </a:pPr>
              <a:endParaRPr 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7" name="Google Shape;1213;p35"/>
            <p:cNvSpPr/>
            <p:nvPr/>
          </p:nvSpPr>
          <p:spPr>
            <a:xfrm>
              <a:off x="3065068" y="2094661"/>
              <a:ext cx="918031" cy="283371"/>
            </a:xfrm>
            <a:prstGeom prst="roundRect">
              <a:avLst>
                <a:gd name="adj" fmla="val 16667"/>
              </a:avLst>
            </a:prstGeom>
            <a:solidFill>
              <a:sysClr val="window" lastClr="FFFFFF"/>
            </a:solidFill>
            <a:ln>
              <a:noFill/>
            </a:ln>
            <a:effectLst>
              <a:outerShdw blurRad="190500" dir="2700000" algn="tl" rotWithShape="0">
                <a:prstClr val="black">
                  <a:alpha val="35000"/>
                </a:prst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914363">
                <a:defRPr/>
              </a:pPr>
              <a:r>
                <a:rPr lang="ru-RU" sz="8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Начало реализации концепции развития </a:t>
              </a:r>
            </a:p>
          </p:txBody>
        </p:sp>
        <p:cxnSp>
          <p:nvCxnSpPr>
            <p:cNvPr id="68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34" idx="2"/>
              <a:endCxn id="53" idx="0"/>
            </p:cNvCxnSpPr>
            <p:nvPr/>
          </p:nvCxnSpPr>
          <p:spPr>
            <a:xfrm>
              <a:off x="4897746" y="2659316"/>
              <a:ext cx="900" cy="1749341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</p:cxnSp>
        <p:cxnSp>
          <p:nvCxnSpPr>
            <p:cNvPr id="69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endCxn id="55" idx="0"/>
            </p:cNvCxnSpPr>
            <p:nvPr/>
          </p:nvCxnSpPr>
          <p:spPr>
            <a:xfrm>
              <a:off x="5835221" y="3773702"/>
              <a:ext cx="2127" cy="630413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</p:cxnSp>
        <p:cxnSp>
          <p:nvCxnSpPr>
            <p:cNvPr id="70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71" idx="3"/>
              <a:endCxn id="60" idx="0"/>
            </p:cNvCxnSpPr>
            <p:nvPr/>
          </p:nvCxnSpPr>
          <p:spPr>
            <a:xfrm>
              <a:off x="7862893" y="4267562"/>
              <a:ext cx="1216" cy="126255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</p:cxnSp>
        <p:sp>
          <p:nvSpPr>
            <p:cNvPr id="71" name="Arrow: Pentagon 5">
              <a:extLst>
                <a:ext uri="{FF2B5EF4-FFF2-40B4-BE49-F238E27FC236}">
                  <a16:creationId xmlns:a16="http://schemas.microsoft.com/office/drawing/2014/main" id="{76526F1D-A1D4-18D0-1CBB-6B3F7F395249}"/>
                </a:ext>
              </a:extLst>
            </p:cNvPr>
            <p:cNvSpPr/>
            <p:nvPr/>
          </p:nvSpPr>
          <p:spPr>
            <a:xfrm rot="5400000">
              <a:off x="7425739" y="3470219"/>
              <a:ext cx="874310" cy="720376"/>
            </a:xfrm>
            <a:prstGeom prst="homePlate">
              <a:avLst>
                <a:gd name="adj" fmla="val 27751"/>
              </a:avLst>
            </a:prstGeom>
            <a:solidFill>
              <a:srgbClr val="D2533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defTabSz="914363">
                <a:defRPr/>
              </a:pPr>
              <a:endParaRPr lang="en-US" sz="1400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7462360" y="3403239"/>
              <a:ext cx="800286" cy="732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Запуск пилотных направлений:</a:t>
              </a:r>
            </a:p>
            <a:p>
              <a:pPr algn="ctr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Продажи</a:t>
              </a:r>
            </a:p>
            <a:p>
              <a:pPr algn="ctr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Технология</a:t>
              </a:r>
            </a:p>
            <a:p>
              <a:pPr algn="ctr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Право</a:t>
              </a:r>
            </a:p>
            <a:p>
              <a:pPr algn="ctr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Безопасность</a:t>
              </a:r>
            </a:p>
            <a:p>
              <a:pPr algn="ctr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Снабжение</a:t>
              </a:r>
            </a:p>
            <a:p>
              <a:pPr algn="ctr" defTabSz="914363">
                <a:defRPr/>
              </a:pPr>
              <a:r>
                <a:rPr lang="en-US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R@D</a:t>
              </a:r>
            </a:p>
          </p:txBody>
        </p:sp>
        <p:sp>
          <p:nvSpPr>
            <p:cNvPr id="73" name="Arrow: Pentagon 5">
              <a:extLst>
                <a:ext uri="{FF2B5EF4-FFF2-40B4-BE49-F238E27FC236}">
                  <a16:creationId xmlns:a16="http://schemas.microsoft.com/office/drawing/2014/main" id="{76526F1D-A1D4-18D0-1CBB-6B3F7F395249}"/>
                </a:ext>
              </a:extLst>
            </p:cNvPr>
            <p:cNvSpPr/>
            <p:nvPr/>
          </p:nvSpPr>
          <p:spPr>
            <a:xfrm rot="5400000">
              <a:off x="6379479" y="3465933"/>
              <a:ext cx="874312" cy="728950"/>
            </a:xfrm>
            <a:prstGeom prst="homePlate">
              <a:avLst>
                <a:gd name="adj" fmla="val 27751"/>
              </a:avLst>
            </a:prstGeom>
            <a:solidFill>
              <a:srgbClr val="F9941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defTabSz="914363">
                <a:defRPr/>
              </a:pPr>
              <a:endParaRPr lang="en-US" sz="1400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6423908" y="3378892"/>
              <a:ext cx="789284" cy="650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63">
                <a:defRPr/>
              </a:pPr>
              <a:r>
                <a:rPr lang="ru-RU" sz="700" kern="0" dirty="0">
                  <a:solidFill>
                    <a:schemeClr val="tx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Запуск пилотных проектов по цифровой аналитике показателей операционной эффективности и администрирования</a:t>
              </a:r>
            </a:p>
          </p:txBody>
        </p:sp>
        <p:sp>
          <p:nvSpPr>
            <p:cNvPr id="75" name="Arrow: Pentagon 5">
              <a:extLst>
                <a:ext uri="{FF2B5EF4-FFF2-40B4-BE49-F238E27FC236}">
                  <a16:creationId xmlns:a16="http://schemas.microsoft.com/office/drawing/2014/main" id="{76526F1D-A1D4-18D0-1CBB-6B3F7F395249}"/>
                </a:ext>
              </a:extLst>
            </p:cNvPr>
            <p:cNvSpPr/>
            <p:nvPr/>
          </p:nvSpPr>
          <p:spPr>
            <a:xfrm rot="5400000">
              <a:off x="5404392" y="3467058"/>
              <a:ext cx="874311" cy="726696"/>
            </a:xfrm>
            <a:prstGeom prst="homePlate">
              <a:avLst>
                <a:gd name="adj" fmla="val 27751"/>
              </a:avLst>
            </a:prstGeom>
            <a:solidFill>
              <a:srgbClr val="FFCA0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defTabSz="914363">
                <a:defRPr/>
              </a:pPr>
              <a:endParaRPr lang="en-US" sz="14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5426895" y="3367660"/>
              <a:ext cx="789135" cy="732904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pPr algn="ctr" defTabSz="914363">
                <a:defRPr/>
              </a:pPr>
              <a:r>
                <a:rPr lang="ru-RU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Ведется отладка связей  в процессах на базе интеграции программ:    </a:t>
              </a:r>
            </a:p>
            <a:p>
              <a:pPr algn="ctr" defTabSz="914363">
                <a:defRPr/>
              </a:pPr>
              <a:r>
                <a:rPr lang="ru-RU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- 1С КА, </a:t>
              </a:r>
              <a:r>
                <a:rPr lang="en-US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WMS</a:t>
              </a:r>
              <a:r>
                <a:rPr lang="ru-RU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ресурсы) </a:t>
              </a:r>
            </a:p>
            <a:p>
              <a:pPr algn="ctr" defTabSz="914363">
                <a:defRPr/>
              </a:pPr>
              <a:r>
                <a:rPr lang="ru-RU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Битрикс 24, </a:t>
              </a:r>
              <a:r>
                <a:rPr lang="en-US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Obsidian </a:t>
              </a:r>
              <a:r>
                <a:rPr lang="ru-RU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</a:p>
            <a:p>
              <a:pPr algn="ctr" defTabSz="914363">
                <a:defRPr/>
              </a:pPr>
              <a:r>
                <a:rPr lang="en-US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ru-RU" sz="7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менеджмент) </a:t>
              </a:r>
            </a:p>
          </p:txBody>
        </p:sp>
        <p:cxnSp>
          <p:nvCxnSpPr>
            <p:cNvPr id="77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73" idx="3"/>
              <a:endCxn id="58" idx="0"/>
            </p:cNvCxnSpPr>
            <p:nvPr/>
          </p:nvCxnSpPr>
          <p:spPr>
            <a:xfrm>
              <a:off x="6816635" y="4267564"/>
              <a:ext cx="2746" cy="135196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</p:cxnSp>
        <p:sp>
          <p:nvSpPr>
            <p:cNvPr id="78" name="Arrow: Pentagon 5">
              <a:extLst>
                <a:ext uri="{FF2B5EF4-FFF2-40B4-BE49-F238E27FC236}">
                  <a16:creationId xmlns:a16="http://schemas.microsoft.com/office/drawing/2014/main" id="{76526F1D-A1D4-18D0-1CBB-6B3F7F395249}"/>
                </a:ext>
              </a:extLst>
            </p:cNvPr>
            <p:cNvSpPr/>
            <p:nvPr/>
          </p:nvSpPr>
          <p:spPr>
            <a:xfrm rot="5400000">
              <a:off x="4460429" y="3479330"/>
              <a:ext cx="874312" cy="702151"/>
            </a:xfrm>
            <a:prstGeom prst="homePlate">
              <a:avLst>
                <a:gd name="adj" fmla="val 27751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" dist="38100" algn="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defTabSz="914363">
                <a:defRPr/>
              </a:pPr>
              <a:endParaRPr lang="en-US" sz="1400" kern="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4444280" y="3396421"/>
              <a:ext cx="929979" cy="697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63">
                <a:defRPr/>
              </a:pPr>
              <a:r>
                <a:rPr lang="ru-RU" sz="700" kern="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Регламентирование вновь вводимых процессов</a:t>
              </a:r>
            </a:p>
            <a:p>
              <a:pPr algn="ctr" defTabSz="914363">
                <a:defRPr/>
              </a:pPr>
              <a:endParaRPr lang="ru-RU" sz="4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363">
                <a:defRPr/>
              </a:pPr>
              <a:r>
                <a:rPr lang="ru-RU" sz="700" kern="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Корректировка и улучшение разработанных регламентов</a:t>
              </a:r>
            </a:p>
          </p:txBody>
        </p:sp>
        <p:cxnSp>
          <p:nvCxnSpPr>
            <p:cNvPr id="89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32" idx="2"/>
              <a:endCxn id="91" idx="0"/>
            </p:cNvCxnSpPr>
            <p:nvPr/>
          </p:nvCxnSpPr>
          <p:spPr>
            <a:xfrm>
              <a:off x="3947968" y="2946684"/>
              <a:ext cx="5934" cy="1481142"/>
            </a:xfrm>
            <a:prstGeom prst="line">
              <a:avLst/>
            </a:prstGeom>
            <a:noFill/>
            <a:ln w="571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90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32" idx="2"/>
              <a:endCxn id="91" idx="0"/>
            </p:cNvCxnSpPr>
            <p:nvPr/>
          </p:nvCxnSpPr>
          <p:spPr>
            <a:xfrm>
              <a:off x="3947967" y="2946683"/>
              <a:ext cx="5935" cy="1481143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</p:cxnSp>
        <p:sp>
          <p:nvSpPr>
            <p:cNvPr id="91" name="Diamond 60">
              <a:extLst>
                <a:ext uri="{FF2B5EF4-FFF2-40B4-BE49-F238E27FC236}">
                  <a16:creationId xmlns:a16="http://schemas.microsoft.com/office/drawing/2014/main" id="{C55F0F6C-C978-4121-7D39-079D4211D067}"/>
                </a:ext>
              </a:extLst>
            </p:cNvPr>
            <p:cNvSpPr/>
            <p:nvPr/>
          </p:nvSpPr>
          <p:spPr>
            <a:xfrm>
              <a:off x="3852310" y="4408657"/>
              <a:ext cx="191672" cy="176838"/>
            </a:xfrm>
            <a:prstGeom prst="diamond">
              <a:avLst/>
            </a:prstGeom>
            <a:solidFill>
              <a:srgbClr val="002F6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>
                <a:defRPr/>
              </a:pPr>
              <a:endParaRPr 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737667" y="4871156"/>
              <a:ext cx="798053" cy="2600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08006">
                <a:defRPr/>
              </a:pPr>
              <a:r>
                <a:rPr lang="ru-RU" sz="8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Процессов нет и они не нужны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1685973" y="4763863"/>
              <a:ext cx="798053" cy="449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08006">
                <a:defRPr/>
              </a:pPr>
              <a:r>
                <a:rPr lang="ru-RU" sz="8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Появляются кооперационные инструкции устные или на бумаге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2491119" y="4748463"/>
              <a:ext cx="895481" cy="543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08006">
                <a:defRPr/>
              </a:pPr>
              <a:r>
                <a:rPr lang="ru-RU" sz="8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Расширяется штат и появляются процессы взаимодействия между участниками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3391420" y="4653765"/>
              <a:ext cx="1058936" cy="780188"/>
            </a:xfrm>
            <a:prstGeom prst="rect">
              <a:avLst/>
            </a:prstGeom>
            <a:noFill/>
          </p:spPr>
          <p:txBody>
            <a:bodyPr wrap="square" lIns="36000" tIns="0" rtlCol="0">
              <a:spAutoFit/>
            </a:bodyPr>
            <a:lstStyle/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Введена стратегия развития компании.</a:t>
              </a:r>
            </a:p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Разработана архитектура процессов (владельцы, направления, графическое отображение).</a:t>
              </a:r>
            </a:p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Установлены контрольные точки по этапам прохождения процессов.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4471651" y="4615112"/>
              <a:ext cx="922064" cy="862935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Создан реестр всех процессов (группировка, классификация, связи).</a:t>
              </a:r>
            </a:p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Оцифровка и регистрация стандартов  и регламентов по процессам </a:t>
              </a:r>
            </a:p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Привязка регламентов к владельцам и направлениям.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5364880" y="4612673"/>
              <a:ext cx="985649" cy="808112"/>
            </a:xfrm>
            <a:prstGeom prst="rect">
              <a:avLst/>
            </a:prstGeom>
            <a:noFill/>
          </p:spPr>
          <p:txBody>
            <a:bodyPr wrap="square" lIns="36000" tIns="36000" rtlCol="0">
              <a:spAutoFit/>
            </a:bodyPr>
            <a:lstStyle/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 Перевод процессов в ERP-систему.</a:t>
              </a:r>
            </a:p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Внедрение автоматических дашбордов, основанных на данных из ERP.</a:t>
              </a:r>
            </a:p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Интеграция контроля исполнения в реальном времени.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6317778" y="4629154"/>
              <a:ext cx="1017373" cy="780188"/>
            </a:xfrm>
            <a:prstGeom prst="rect">
              <a:avLst/>
            </a:prstGeom>
            <a:noFill/>
          </p:spPr>
          <p:txBody>
            <a:bodyPr wrap="square" lIns="36000" tIns="0" rtlCol="0">
              <a:spAutoFit/>
            </a:bodyPr>
            <a:lstStyle/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Анализ процессов по данным из систем: сроки, этапы, результаты.</a:t>
              </a:r>
            </a:p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Использование цифровой аналитики для визуализации и контроля.</a:t>
              </a:r>
            </a:p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Выявление проблем и потерь на основе фактов, а не субъективных оценок.</a:t>
              </a:r>
            </a:p>
          </p:txBody>
        </p:sp>
        <p:sp>
          <p:nvSpPr>
            <p:cNvPr id="99" name="Parallélogramme 22">
              <a:extLst>
                <a:ext uri="{FF2B5EF4-FFF2-40B4-BE49-F238E27FC236}">
                  <a16:creationId xmlns:a16="http://schemas.microsoft.com/office/drawing/2014/main" id="{F62C3571-66CC-6447-90C2-6EC84E72FABC}"/>
                </a:ext>
              </a:extLst>
            </p:cNvPr>
            <p:cNvSpPr/>
            <p:nvPr/>
          </p:nvSpPr>
          <p:spPr>
            <a:xfrm>
              <a:off x="677634" y="3507622"/>
              <a:ext cx="850856" cy="968646"/>
            </a:xfrm>
            <a:prstGeom prst="parallelogram">
              <a:avLst>
                <a:gd name="adj" fmla="val 50862"/>
              </a:avLst>
            </a:prstGeom>
            <a:solidFill>
              <a:srgbClr val="807F7E"/>
            </a:solidFill>
            <a:ln w="9525">
              <a:noFill/>
              <a:round/>
              <a:headEnd/>
              <a:tailEnd/>
            </a:ln>
            <a:effectLst>
              <a:outerShdw blurRad="177800" dist="254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363">
                <a:defRPr/>
              </a:pPr>
              <a:endParaRPr lang="fr-FR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AD53531-4D61-E742-6EFF-2CC06247803E}"/>
                </a:ext>
              </a:extLst>
            </p:cNvPr>
            <p:cNvSpPr txBox="1"/>
            <p:nvPr/>
          </p:nvSpPr>
          <p:spPr>
            <a:xfrm>
              <a:off x="7323583" y="4558192"/>
              <a:ext cx="1111462" cy="945682"/>
            </a:xfrm>
            <a:prstGeom prst="rect">
              <a:avLst/>
            </a:prstGeom>
            <a:noFill/>
          </p:spPr>
          <p:txBody>
            <a:bodyPr wrap="square" lIns="36000" tIns="0" rtlCol="0">
              <a:spAutoFit/>
            </a:bodyPr>
            <a:lstStyle/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Использование ИИ для прогнозов, планирования и рекомендаций решений.</a:t>
              </a:r>
            </a:p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 Внедрение ИИ-агентов и аналитических моделей для задач: оценка спроса, подбор рецептур </a:t>
              </a:r>
            </a:p>
            <a:p>
              <a:pPr marL="88896" defTabSz="914363">
                <a:defRPr/>
              </a:pPr>
              <a:r>
                <a:rPr lang="ru-RU" sz="7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Встраивание ИИ в системы управления: от получения данных - к конкретным  действиям.</a:t>
              </a:r>
            </a:p>
          </p:txBody>
        </p:sp>
        <p:cxnSp>
          <p:nvCxnSpPr>
            <p:cNvPr id="101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stCxn id="71" idx="3"/>
              <a:endCxn id="60" idx="0"/>
            </p:cNvCxnSpPr>
            <p:nvPr/>
          </p:nvCxnSpPr>
          <p:spPr>
            <a:xfrm>
              <a:off x="7862503" y="4348956"/>
              <a:ext cx="1607" cy="44860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</p:cxnSp>
        <p:cxnSp>
          <p:nvCxnSpPr>
            <p:cNvPr id="106" name="Straight Connector 59">
              <a:extLst>
                <a:ext uri="{FF2B5EF4-FFF2-40B4-BE49-F238E27FC236}">
                  <a16:creationId xmlns:a16="http://schemas.microsoft.com/office/drawing/2014/main" id="{606B57F6-6F85-900A-9F53-6A5A13093B56}"/>
                </a:ext>
              </a:extLst>
            </p:cNvPr>
            <p:cNvCxnSpPr>
              <a:cxnSpLocks/>
              <a:endCxn id="65" idx="0"/>
            </p:cNvCxnSpPr>
            <p:nvPr/>
          </p:nvCxnSpPr>
          <p:spPr>
            <a:xfrm>
              <a:off x="1235835" y="3663541"/>
              <a:ext cx="3411" cy="755864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107" name="Google Shape;1215;p35"/>
            <p:cNvSpPr/>
            <p:nvPr/>
          </p:nvSpPr>
          <p:spPr>
            <a:xfrm>
              <a:off x="1096813" y="3553095"/>
              <a:ext cx="279835" cy="261306"/>
            </a:xfrm>
            <a:custGeom>
              <a:avLst/>
              <a:gdLst/>
              <a:ahLst/>
              <a:cxnLst/>
              <a:rect l="l" t="t" r="r" b="b"/>
              <a:pathLst>
                <a:path w="1608" h="1600" extrusionOk="0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rgbClr val="006985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defTabSz="914363">
                <a:defRPr/>
              </a:pPr>
              <a:endParaRPr sz="4800" kern="0">
                <a:solidFill>
                  <a:srgbClr val="999999"/>
                </a:solidFill>
                <a:latin typeface="Calibri" panose="020F0502020204030204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217;p35"/>
            <p:cNvSpPr txBox="1"/>
            <p:nvPr/>
          </p:nvSpPr>
          <p:spPr>
            <a:xfrm>
              <a:off x="1111280" y="3507537"/>
              <a:ext cx="250901" cy="325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 defTabSz="914363">
                <a:buClr>
                  <a:srgbClr val="FFFFFF"/>
                </a:buClr>
                <a:buSzPts val="8000"/>
                <a:defRPr/>
              </a:pPr>
              <a:r>
                <a:rPr lang="en-GB" sz="2000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sz="2000" kern="0" dirty="0">
                <a:solidFill>
                  <a:prstClr val="black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9" name="Google Shape;1215;p35"/>
            <p:cNvSpPr/>
            <p:nvPr/>
          </p:nvSpPr>
          <p:spPr>
            <a:xfrm>
              <a:off x="2057568" y="3230346"/>
              <a:ext cx="279835" cy="261306"/>
            </a:xfrm>
            <a:custGeom>
              <a:avLst/>
              <a:gdLst/>
              <a:ahLst/>
              <a:cxnLst/>
              <a:rect l="l" t="t" r="r" b="b"/>
              <a:pathLst>
                <a:path w="1608" h="1600" extrusionOk="0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rgbClr val="006985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defTabSz="914363">
                <a:defRPr/>
              </a:pPr>
              <a:endParaRPr sz="4800" kern="0">
                <a:solidFill>
                  <a:srgbClr val="999999"/>
                </a:solidFill>
                <a:latin typeface="Calibri" panose="020F0502020204030204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217;p35"/>
            <p:cNvSpPr txBox="1"/>
            <p:nvPr/>
          </p:nvSpPr>
          <p:spPr>
            <a:xfrm>
              <a:off x="2072606" y="3184042"/>
              <a:ext cx="250901" cy="325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 defTabSz="914363">
                <a:buClr>
                  <a:srgbClr val="FFFFFF"/>
                </a:buClr>
                <a:buSzPts val="8000"/>
                <a:defRPr/>
              </a:pPr>
              <a:r>
                <a:rPr lang="ru-RU" sz="2000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 sz="2000" kern="0" dirty="0">
                <a:solidFill>
                  <a:prstClr val="black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1" name="Rechteck 46">
              <a:extLst>
                <a:ext uri="{FF2B5EF4-FFF2-40B4-BE49-F238E27FC236}">
                  <a16:creationId xmlns:a16="http://schemas.microsoft.com/office/drawing/2014/main" id="{E2158393-CFD9-466C-E7C5-3148F896F55C}"/>
                </a:ext>
              </a:extLst>
            </p:cNvPr>
            <p:cNvSpPr/>
            <p:nvPr/>
          </p:nvSpPr>
          <p:spPr bwMode="gray">
            <a:xfrm>
              <a:off x="3808271" y="2447971"/>
              <a:ext cx="572737" cy="130031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  <p:txBody>
            <a:bodyPr wrap="square" lIns="0" tIns="0" rIns="0" bIns="0" rtlCol="0" anchor="t">
              <a:spAutoFit/>
            </a:bodyPr>
            <a:lstStyle/>
            <a:p>
              <a:pPr defTabSz="914363">
                <a:defRPr/>
              </a:pPr>
              <a:r>
                <a:rPr lang="ru-RU" sz="1100" kern="0" dirty="0">
                  <a:solidFill>
                    <a:srgbClr val="6F6F6F"/>
                  </a:solidFill>
                  <a:latin typeface="Calibri" panose="020F0502020204030204"/>
                </a:rPr>
                <a:t>Год</a:t>
              </a:r>
              <a:r>
                <a:rPr lang="en-US" sz="1100" kern="0" dirty="0">
                  <a:solidFill>
                    <a:srgbClr val="6F6F6F"/>
                  </a:solidFill>
                  <a:latin typeface="Calibri" panose="020F0502020204030204"/>
                </a:rPr>
                <a:t> 20</a:t>
              </a:r>
              <a:r>
                <a:rPr lang="ru-RU" sz="1100" kern="0" dirty="0">
                  <a:solidFill>
                    <a:srgbClr val="6F6F6F"/>
                  </a:solidFill>
                  <a:latin typeface="Calibri" panose="020F0502020204030204"/>
                </a:rPr>
                <a:t>24</a:t>
              </a:r>
              <a:endParaRPr lang="en-US" sz="1100" kern="0" dirty="0">
                <a:solidFill>
                  <a:srgbClr val="6F6F6F"/>
                </a:solidFill>
                <a:latin typeface="Calibri" panose="020F0502020204030204"/>
              </a:endParaRP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383727" y="166264"/>
            <a:ext cx="8862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182">
              <a:defRPr/>
            </a:pPr>
            <a:r>
              <a:rPr lang="ru-RU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 развития процессов Компании 2026 – 2030 (98% совокупно по 8 уровням)</a:t>
            </a:r>
          </a:p>
        </p:txBody>
      </p:sp>
      <p:sp>
        <p:nvSpPr>
          <p:cNvPr id="119" name="Google Shape;1213;p35"/>
          <p:cNvSpPr/>
          <p:nvPr/>
        </p:nvSpPr>
        <p:spPr>
          <a:xfrm>
            <a:off x="412325" y="474041"/>
            <a:ext cx="5027484" cy="1277604"/>
          </a:xfrm>
          <a:prstGeom prst="roundRect">
            <a:avLst>
              <a:gd name="adj" fmla="val 6200"/>
            </a:avLst>
          </a:prstGeom>
          <a:noFill/>
          <a:ln>
            <a:noFill/>
          </a:ln>
          <a:effectLst>
            <a:outerShdw sx="1000" sy="1000" algn="tl" rotWithShape="0">
              <a:prstClr val="black"/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defTabSz="914363">
              <a:lnSpc>
                <a:spcPct val="150000"/>
              </a:lnSpc>
              <a:defRPr/>
            </a:pPr>
            <a:r>
              <a:rPr lang="ru-RU" sz="10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</a:t>
            </a:r>
            <a:r>
              <a:rPr lang="ru-RU" sz="1000" kern="0" dirty="0">
                <a:solidFill>
                  <a:srgbClr val="063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b="1" kern="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драйверы</a:t>
            </a:r>
            <a:r>
              <a:rPr lang="ru-RU" sz="1000" kern="0" dirty="0">
                <a:solidFill>
                  <a:srgbClr val="063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развития процессов:</a:t>
            </a:r>
          </a:p>
          <a:p>
            <a:pPr marL="171443" indent="-171443" defTabSz="914363">
              <a:lnSpc>
                <a:spcPct val="150000"/>
              </a:lnSpc>
              <a:buFontTx/>
              <a:buChar char="-"/>
              <a:defRPr/>
            </a:pPr>
            <a:r>
              <a:rPr lang="ru-RU" sz="10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Вовлеченность в развитие руководителей и команд по направлениям;</a:t>
            </a:r>
          </a:p>
          <a:p>
            <a:pPr marL="171443" indent="-171443" defTabSz="914363">
              <a:lnSpc>
                <a:spcPct val="150000"/>
              </a:lnSpc>
              <a:buFontTx/>
              <a:buChar char="-"/>
              <a:defRPr/>
            </a:pPr>
            <a:r>
              <a:rPr lang="ru-RU" sz="10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Развитие </a:t>
            </a:r>
            <a:r>
              <a:rPr lang="en-US" sz="10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ru-RU" sz="10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инфраструктуры как основы для цифровой аналитики;</a:t>
            </a:r>
          </a:p>
          <a:p>
            <a:pPr marL="171443" indent="-171443" defTabSz="914363">
              <a:lnSpc>
                <a:spcPct val="150000"/>
              </a:lnSpc>
              <a:buFontTx/>
              <a:buChar char="-"/>
              <a:defRPr/>
            </a:pPr>
            <a:r>
              <a:rPr lang="ru-RU" sz="10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Систематизация динамических данных операционной эффективности;</a:t>
            </a:r>
          </a:p>
          <a:p>
            <a:pPr marL="171443" indent="-171443" defTabSz="914363">
              <a:lnSpc>
                <a:spcPct val="150000"/>
              </a:lnSpc>
              <a:buFontTx/>
              <a:buChar char="-"/>
              <a:defRPr/>
            </a:pPr>
            <a:r>
              <a:rPr lang="ru-RU" sz="10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Администрирование и анализ исполнения</a:t>
            </a:r>
          </a:p>
        </p:txBody>
      </p: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B77FD949-D5C5-644C-8455-A0BBF803DDA4}"/>
              </a:ext>
            </a:extLst>
          </p:cNvPr>
          <p:cNvCxnSpPr>
            <a:stCxn id="144" idx="0"/>
          </p:cNvCxnSpPr>
          <p:nvPr/>
        </p:nvCxnSpPr>
        <p:spPr>
          <a:xfrm flipH="1" flipV="1">
            <a:off x="643337" y="2478615"/>
            <a:ext cx="3820" cy="2274043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24" name="Прямоугольник 223"/>
          <p:cNvSpPr/>
          <p:nvPr/>
        </p:nvSpPr>
        <p:spPr>
          <a:xfrm>
            <a:off x="906771" y="6452723"/>
            <a:ext cx="112656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63">
              <a:defRPr/>
            </a:pPr>
            <a:r>
              <a:rPr lang="ru-RU" sz="14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Достижение и удержание 8 уровня развития процессов к 2030 году</a:t>
            </a: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8A909A17-8570-D343-82FC-2CBFF41DCD2F}"/>
              </a:ext>
            </a:extLst>
          </p:cNvPr>
          <p:cNvSpPr/>
          <p:nvPr/>
        </p:nvSpPr>
        <p:spPr>
          <a:xfrm>
            <a:off x="602490" y="4752659"/>
            <a:ext cx="89333" cy="170006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ctr"/>
          <a:lstStyle/>
          <a:p>
            <a:pPr algn="ctr" defTabSz="914363">
              <a:defRPr/>
            </a:pPr>
            <a:r>
              <a:rPr lang="ru-RU" sz="12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Уровни зрелости 1-8</a:t>
            </a:r>
          </a:p>
        </p:txBody>
      </p:sp>
    </p:spTree>
    <p:extLst>
      <p:ext uri="{BB962C8B-B14F-4D97-AF65-F5344CB8AC3E}">
        <p14:creationId xmlns:p14="http://schemas.microsoft.com/office/powerpoint/2010/main" val="357284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Рисунок 1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762" y="6372498"/>
            <a:ext cx="1504061" cy="343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rot="16200000">
            <a:off x="-46451" y="3215504"/>
            <a:ext cx="14720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8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НАПРАВЛЕНИЯ</a:t>
            </a:r>
            <a:endParaRPr lang="ru-RU" sz="900" b="1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910044" y="2850265"/>
            <a:ext cx="994798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8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Овал 2"/>
          <p:cNvSpPr/>
          <p:nvPr/>
        </p:nvSpPr>
        <p:spPr>
          <a:xfrm>
            <a:off x="1316034" y="3264172"/>
            <a:ext cx="183758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r>
              <a:rPr lang="ru-RU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Овал 10"/>
          <p:cNvSpPr/>
          <p:nvPr/>
        </p:nvSpPr>
        <p:spPr>
          <a:xfrm rot="12789186" flipV="1">
            <a:off x="2072267" y="3034214"/>
            <a:ext cx="191847" cy="2532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endParaRPr lang="ru-RU" sz="1400" dirty="0">
              <a:solidFill>
                <a:srgbClr val="063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flipV="1">
            <a:off x="1465083" y="3019656"/>
            <a:ext cx="994798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7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5383" y="3546274"/>
            <a:ext cx="994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КАЧЕСТВО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34" y="2853764"/>
            <a:ext cx="10449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ПРОИЗВОДСТВО</a:t>
            </a:r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2021498" y="2855372"/>
            <a:ext cx="994798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8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Овал 20"/>
          <p:cNvSpPr/>
          <p:nvPr/>
        </p:nvSpPr>
        <p:spPr>
          <a:xfrm rot="12789186" flipV="1">
            <a:off x="3450538" y="3034214"/>
            <a:ext cx="191847" cy="2532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endParaRPr lang="ru-RU" sz="1400" dirty="0">
              <a:solidFill>
                <a:srgbClr val="063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flipV="1">
            <a:off x="2571556" y="3019658"/>
            <a:ext cx="994798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7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63640" y="3557555"/>
            <a:ext cx="9947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ПРОДАЖИ</a:t>
            </a:r>
            <a:endParaRPr lang="ru-RU" sz="7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28608" y="2844671"/>
            <a:ext cx="9938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en-US" sz="7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R@D </a:t>
            </a:r>
            <a:r>
              <a:rPr lang="ru-RU" sz="7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ТЕХНОЛОГИЯ</a:t>
            </a:r>
            <a:endParaRPr lang="ru-RU" sz="7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3125335" y="2861106"/>
            <a:ext cx="994798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8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Овал 28"/>
          <p:cNvSpPr/>
          <p:nvPr/>
        </p:nvSpPr>
        <p:spPr>
          <a:xfrm rot="12789186" flipV="1">
            <a:off x="4832787" y="3034214"/>
            <a:ext cx="191847" cy="2532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endParaRPr lang="ru-RU" sz="1400" dirty="0">
              <a:solidFill>
                <a:srgbClr val="063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flipV="1">
            <a:off x="3674608" y="3024152"/>
            <a:ext cx="994799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7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68997" y="3441238"/>
            <a:ext cx="9947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РАЗВИТИЕ ПРОЦЕССОВ</a:t>
            </a:r>
            <a:endParaRPr lang="ru-RU" sz="7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26321" y="2852979"/>
            <a:ext cx="99381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СНАБЖЕНИЕ</a:t>
            </a:r>
            <a:endParaRPr lang="ru-RU" sz="7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4219389" y="2859958"/>
            <a:ext cx="994799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8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7" name="Овал 36"/>
          <p:cNvSpPr/>
          <p:nvPr/>
        </p:nvSpPr>
        <p:spPr>
          <a:xfrm rot="12789186" flipV="1">
            <a:off x="6210043" y="3034214"/>
            <a:ext cx="191847" cy="2532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endParaRPr lang="ru-RU" sz="1400" dirty="0">
              <a:solidFill>
                <a:srgbClr val="063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flipV="1">
            <a:off x="4762392" y="3032953"/>
            <a:ext cx="994798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7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66847" y="3552835"/>
            <a:ext cx="99479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ПЕРСОНАЛ</a:t>
            </a:r>
            <a:endParaRPr lang="ru-RU" sz="7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224617" y="2844670"/>
            <a:ext cx="993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ОПЕРАЦИОННАЯЭФФЕКТИВНОСТЬ</a:t>
            </a:r>
          </a:p>
        </p:txBody>
      </p:sp>
      <p:sp>
        <p:nvSpPr>
          <p:cNvPr id="43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5305799" y="2857682"/>
            <a:ext cx="994798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8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5" name="Овал 44"/>
          <p:cNvSpPr/>
          <p:nvPr/>
        </p:nvSpPr>
        <p:spPr>
          <a:xfrm rot="12789186" flipV="1">
            <a:off x="7582170" y="3023644"/>
            <a:ext cx="191847" cy="2532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endParaRPr lang="ru-RU" sz="1400" dirty="0">
              <a:solidFill>
                <a:srgbClr val="063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flipV="1">
            <a:off x="5842183" y="3032953"/>
            <a:ext cx="994800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7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46194" y="3561362"/>
            <a:ext cx="99479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БЕЗОПАСНОТЬ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98526" y="2845903"/>
            <a:ext cx="99381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ФИНАНСЫ</a:t>
            </a:r>
            <a:endParaRPr lang="ru-RU" sz="7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6383951" y="2858910"/>
            <a:ext cx="994799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8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3" name="Овал 52"/>
          <p:cNvSpPr/>
          <p:nvPr/>
        </p:nvSpPr>
        <p:spPr>
          <a:xfrm rot="12789186" flipV="1">
            <a:off x="8959737" y="3023642"/>
            <a:ext cx="191847" cy="2532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endParaRPr lang="ru-RU" sz="1400" dirty="0">
              <a:solidFill>
                <a:srgbClr val="063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flipV="1">
            <a:off x="6921251" y="3036907"/>
            <a:ext cx="994799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7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931552" y="3572234"/>
            <a:ext cx="99479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ПРАВО</a:t>
            </a:r>
            <a:endParaRPr lang="ru-RU" sz="7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379571" y="2845869"/>
            <a:ext cx="99381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СОТП и ЭБ</a:t>
            </a:r>
          </a:p>
        </p:txBody>
      </p:sp>
      <p:sp>
        <p:nvSpPr>
          <p:cNvPr id="60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7455315" y="2858911"/>
            <a:ext cx="994799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8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2" name="Овал 61"/>
          <p:cNvSpPr/>
          <p:nvPr/>
        </p:nvSpPr>
        <p:spPr>
          <a:xfrm rot="12789186" flipV="1">
            <a:off x="10341675" y="3029008"/>
            <a:ext cx="191847" cy="2532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endParaRPr lang="ru-RU" sz="1400" dirty="0">
              <a:solidFill>
                <a:srgbClr val="063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flipV="1">
            <a:off x="8005053" y="3044260"/>
            <a:ext cx="994799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7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901846" y="3578583"/>
            <a:ext cx="12128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spc="-3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АДМИНИСТРИРОВАНИЕ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91818" y="2853011"/>
            <a:ext cx="1151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ИНФОРМАЦИОННЫЕ ТЕХНОЛОГИИ</a:t>
            </a:r>
          </a:p>
        </p:txBody>
      </p:sp>
      <p:sp>
        <p:nvSpPr>
          <p:cNvPr id="68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8536652" y="2857681"/>
            <a:ext cx="994799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rgbClr val="063066"/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8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flipV="1">
            <a:off x="9084244" y="3044261"/>
            <a:ext cx="994799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7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100460" y="3477809"/>
            <a:ext cx="9947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srgbClr val="EBEBEB">
                    <a:lumMod val="1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ИСКУСТВЕННЫЙ ИНТЕЛЕКТ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9136" y="2821130"/>
            <a:ext cx="993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ТЕХНИЧЕСКАЯ ПОЛИТИКА И РАЗВИТИЕ</a:t>
            </a:r>
          </a:p>
        </p:txBody>
      </p:sp>
      <p:sp>
        <p:nvSpPr>
          <p:cNvPr id="75" name="Скругленный прямоугольник 74"/>
          <p:cNvSpPr/>
          <p:nvPr/>
        </p:nvSpPr>
        <p:spPr>
          <a:xfrm>
            <a:off x="915274" y="1017535"/>
            <a:ext cx="989570" cy="1777136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 Планирование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 Исполнение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1.3 Производственный учёт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1.4 Отгрузка ГП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 Оптимизация технологических процессов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1.6 Складское хозяйство</a:t>
            </a:r>
          </a:p>
        </p:txBody>
      </p:sp>
      <p:sp>
        <p:nvSpPr>
          <p:cNvPr id="77" name="Скругленный прямоугольник 76"/>
          <p:cNvSpPr/>
          <p:nvPr/>
        </p:nvSpPr>
        <p:spPr>
          <a:xfrm>
            <a:off x="1475384" y="3850222"/>
            <a:ext cx="993813" cy="1769269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 Контроль качества сырья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 Контроль качества операционный и ГП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 Контроль хранения и отгрузок ГП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2.4 Работа с несоответствиями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2.5 СМК</a:t>
            </a:r>
          </a:p>
        </p:txBody>
      </p:sp>
      <p:sp>
        <p:nvSpPr>
          <p:cNvPr id="78" name="Скругленный прямоугольник 77"/>
          <p:cNvSpPr/>
          <p:nvPr/>
        </p:nvSpPr>
        <p:spPr>
          <a:xfrm>
            <a:off x="2026300" y="1017534"/>
            <a:ext cx="993813" cy="1777123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 Разработка новых/ доработка разработанных продуктов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3.2 Поиск аналогов сырья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3.3 Снижение себестоимости разработанного продукта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 Нормативная технологическая документация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3.5 Контроль производственного цикла</a:t>
            </a:r>
          </a:p>
        </p:txBody>
      </p:sp>
      <p:sp>
        <p:nvSpPr>
          <p:cNvPr id="79" name="Скругленный прямоугольник 78"/>
          <p:cNvSpPr/>
          <p:nvPr/>
        </p:nvSpPr>
        <p:spPr>
          <a:xfrm>
            <a:off x="2573942" y="3843168"/>
            <a:ext cx="993813" cy="1776326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4.1 Аттестация и сертификация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4.2 Планирование продаж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4.3 Продажи ОВП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4.4 Новые продажи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4.5 Ресейл</a:t>
            </a:r>
          </a:p>
        </p:txBody>
      </p:sp>
      <p:sp>
        <p:nvSpPr>
          <p:cNvPr id="80" name="Скругленный прямоугольник 79"/>
          <p:cNvSpPr/>
          <p:nvPr/>
        </p:nvSpPr>
        <p:spPr>
          <a:xfrm>
            <a:off x="3125094" y="1016495"/>
            <a:ext cx="993813" cy="1794277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 Формирование реестра квалифицированных поставщиков по категориям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5.2  Закупочная процедура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5.3 Логистика</a:t>
            </a:r>
          </a:p>
        </p:txBody>
      </p:sp>
      <p:sp>
        <p:nvSpPr>
          <p:cNvPr id="81" name="Скругленный прямоугольник 80"/>
          <p:cNvSpPr/>
          <p:nvPr/>
        </p:nvSpPr>
        <p:spPr>
          <a:xfrm>
            <a:off x="3679299" y="3850985"/>
            <a:ext cx="993813" cy="1768508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6.1 Формирование стратегии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6.2 Развивающий аудит процессов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6.3 Вовлеченность, реализация трансформационных проектов и администрирование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6.4 Контроль эффектов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6.5 Анализ развития существующих и новых направлений</a:t>
            </a:r>
          </a:p>
        </p:txBody>
      </p:sp>
      <p:sp>
        <p:nvSpPr>
          <p:cNvPr id="82" name="Скругленный прямоугольник 81"/>
          <p:cNvSpPr/>
          <p:nvPr/>
        </p:nvSpPr>
        <p:spPr>
          <a:xfrm>
            <a:off x="4212309" y="1016237"/>
            <a:ext cx="993813" cy="1798524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7.1 Анализ и аудит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7.2  Оптимизация процессов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7.3 Система мониторинга ключевых показателей эффективности (</a:t>
            </a:r>
            <a:r>
              <a:rPr lang="en-US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</a:t>
            </a: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6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7.4 5</a:t>
            </a:r>
            <a:r>
              <a:rPr lang="en-US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организация рабочего места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7.5 Управление проблемами и рисками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7.6 Коммуникация и информационное сопровождение</a:t>
            </a:r>
          </a:p>
        </p:txBody>
      </p:sp>
      <p:sp>
        <p:nvSpPr>
          <p:cNvPr id="83" name="Скругленный прямоугольник 82"/>
          <p:cNvSpPr/>
          <p:nvPr/>
        </p:nvSpPr>
        <p:spPr>
          <a:xfrm>
            <a:off x="4771707" y="3853076"/>
            <a:ext cx="993813" cy="1766417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8.1 Привлечение и удержание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8.2 Адаптация персонала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8.3 Оценка и обучение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8.4 Кадровый учет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8.5 Мотивация и оплата труда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8.6 Разработка регламентов управления персоналом / ЛНА</a:t>
            </a:r>
            <a:endParaRPr lang="ru-RU" sz="14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7182">
              <a:defRPr/>
            </a:pPr>
            <a:endParaRPr lang="ru-RU" sz="7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Скругленный прямоугольник 83"/>
          <p:cNvSpPr/>
          <p:nvPr/>
        </p:nvSpPr>
        <p:spPr>
          <a:xfrm>
            <a:off x="5306544" y="1016583"/>
            <a:ext cx="993813" cy="1792849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9.1 Бюджетирование и финансовое планирование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9.2 Бухгалтерский учет и отчетность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9.3 Управленческий учет и отчетность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9.4 Управление доходами и расходами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9.5 Взаимодействие с внешними органами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9.6 Автоматизация и цифровизация финансовых процессов</a:t>
            </a:r>
            <a:endParaRPr lang="ru-RU" sz="14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Скругленный прямоугольник 84"/>
          <p:cNvSpPr/>
          <p:nvPr/>
        </p:nvSpPr>
        <p:spPr>
          <a:xfrm>
            <a:off x="5857410" y="3862033"/>
            <a:ext cx="993813" cy="1769270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 Экономическая безопасность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10.2 Информационная безопасность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10.3 Физическая защита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10.4 Антитеррористи-ческая безопасность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10.5 Кадровая безопасность</a:t>
            </a:r>
          </a:p>
          <a:p>
            <a:pPr defTabSz="457182">
              <a:defRPr/>
            </a:pPr>
            <a:endParaRPr lang="ru-RU" sz="7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Скругленный прямоугольник 85"/>
          <p:cNvSpPr/>
          <p:nvPr/>
        </p:nvSpPr>
        <p:spPr>
          <a:xfrm>
            <a:off x="6379329" y="1016703"/>
            <a:ext cx="993813" cy="1790898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11.1 Целевые программы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11.2 Инструктажи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11.3 Обучение и оценка знаний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11.4 Производство работ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11.5 Документальное сопровождение</a:t>
            </a:r>
            <a:endParaRPr lang="ru-RU" sz="14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Скругленный прямоугольник 86"/>
          <p:cNvSpPr/>
          <p:nvPr/>
        </p:nvSpPr>
        <p:spPr>
          <a:xfrm>
            <a:off x="6930319" y="3855567"/>
            <a:ext cx="993813" cy="1763927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12.1 Согласование договоров, протоколов разногласий, задач и иных документов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12.2. Согласование </a:t>
            </a:r>
            <a:r>
              <a:rPr lang="ru-RU" sz="55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спецификаций/заданий/приложений</a:t>
            </a: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по действующим договорам (новые закупки)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12.3 Подготовка рекламаций, требований, жалоб, судебные споры (автоматизация, учет, хранение)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12.4 Корпоративная защита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12.5 Оценка юридических рисков</a:t>
            </a:r>
          </a:p>
          <a:p>
            <a:pPr defTabSz="457182">
              <a:defRPr/>
            </a:pPr>
            <a:endParaRPr lang="ru-RU" sz="7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Скругленный прямоугольник 87"/>
          <p:cNvSpPr/>
          <p:nvPr/>
        </p:nvSpPr>
        <p:spPr>
          <a:xfrm>
            <a:off x="7456059" y="1016498"/>
            <a:ext cx="993813" cy="1794252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13.1 Управление запросами на обслуживание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13.2 Управление изменениями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13.3 Управление инцидентами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13.4 Управление активами и конфигурацией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13.5 Обеспечение доступами и ресурсами</a:t>
            </a:r>
          </a:p>
        </p:txBody>
      </p:sp>
      <p:sp>
        <p:nvSpPr>
          <p:cNvPr id="89" name="Скругленный прямоугольник 88"/>
          <p:cNvSpPr/>
          <p:nvPr/>
        </p:nvSpPr>
        <p:spPr>
          <a:xfrm>
            <a:off x="8014755" y="3853076"/>
            <a:ext cx="993813" cy="1766415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14.1 Матрица администрирования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14.2 Анализ исполнения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14.3 Развитие Битрикс 24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14.4 Ознакомление/ документооборот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14.5 Инструменты администрирования 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(командировки, подарки, корпоративы, делегации, офис)</a:t>
            </a:r>
          </a:p>
          <a:p>
            <a:pPr defTabSz="457182">
              <a:defRPr/>
            </a:pPr>
            <a:endParaRPr lang="ru-RU" sz="7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Скругленный прямоугольник 89"/>
          <p:cNvSpPr/>
          <p:nvPr/>
        </p:nvSpPr>
        <p:spPr>
          <a:xfrm>
            <a:off x="8542320" y="1016240"/>
            <a:ext cx="993813" cy="1798506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15.1 Внедрение технических инноваций и автоматизация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15.2 Строительство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15.3 ТОиР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15.4 Метрологическое обеспечение</a:t>
            </a:r>
          </a:p>
        </p:txBody>
      </p:sp>
      <p:sp>
        <p:nvSpPr>
          <p:cNvPr id="91" name="Скругленный прямоугольник 90"/>
          <p:cNvSpPr/>
          <p:nvPr/>
        </p:nvSpPr>
        <p:spPr>
          <a:xfrm>
            <a:off x="9085229" y="3865809"/>
            <a:ext cx="993813" cy="1761986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rgbClr val="EE31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16.1 Решение локальных задач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16.2 Построение внутренней платформы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16.3 Обучение персонала инструментам ИИ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16.4 Обеспечение ИБ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16.5 Техническое оснащение, обеспечение лицензиями и ПО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16.6 Подготовка стратегии развития ИИ в компании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16.7 </a:t>
            </a:r>
            <a:r>
              <a:rPr lang="en-US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 </a:t>
            </a: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проекты</a:t>
            </a:r>
          </a:p>
          <a:p>
            <a:pPr defTabSz="457182">
              <a:defRPr/>
            </a:pPr>
            <a:endParaRPr lang="ru-RU" sz="7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Овал 110"/>
          <p:cNvSpPr/>
          <p:nvPr/>
        </p:nvSpPr>
        <p:spPr>
          <a:xfrm>
            <a:off x="1873362" y="3212297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r>
              <a:rPr lang="ru-RU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3" name="Овал 112"/>
          <p:cNvSpPr/>
          <p:nvPr/>
        </p:nvSpPr>
        <p:spPr>
          <a:xfrm>
            <a:off x="2429345" y="3267997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r>
              <a:rPr lang="ru-RU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4" name="Овал 113"/>
          <p:cNvSpPr/>
          <p:nvPr/>
        </p:nvSpPr>
        <p:spPr>
          <a:xfrm>
            <a:off x="2974790" y="3210667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r>
              <a:rPr lang="ru-RU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" name="Овал 114"/>
          <p:cNvSpPr/>
          <p:nvPr/>
        </p:nvSpPr>
        <p:spPr>
          <a:xfrm>
            <a:off x="3529234" y="3258607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r>
              <a:rPr 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Овал 115"/>
          <p:cNvSpPr/>
          <p:nvPr/>
        </p:nvSpPr>
        <p:spPr>
          <a:xfrm>
            <a:off x="4072468" y="3207700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r>
              <a:rPr 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Овал 116"/>
          <p:cNvSpPr/>
          <p:nvPr/>
        </p:nvSpPr>
        <p:spPr>
          <a:xfrm>
            <a:off x="4625952" y="3265197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r>
              <a:rPr 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Овал 117"/>
          <p:cNvSpPr/>
          <p:nvPr/>
        </p:nvSpPr>
        <p:spPr>
          <a:xfrm>
            <a:off x="5164272" y="3210082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r>
              <a:rPr 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Овал 118"/>
          <p:cNvSpPr/>
          <p:nvPr/>
        </p:nvSpPr>
        <p:spPr>
          <a:xfrm>
            <a:off x="5708385" y="3267997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r>
              <a:rPr 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Овал 119"/>
          <p:cNvSpPr/>
          <p:nvPr/>
        </p:nvSpPr>
        <p:spPr>
          <a:xfrm>
            <a:off x="6253363" y="3209042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2">
              <a:defRPr/>
            </a:pP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Овал 120"/>
          <p:cNvSpPr/>
          <p:nvPr/>
        </p:nvSpPr>
        <p:spPr>
          <a:xfrm>
            <a:off x="6785270" y="3266337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2">
              <a:defRPr/>
            </a:pPr>
            <a:r>
              <a:rPr 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Овал 121"/>
          <p:cNvSpPr/>
          <p:nvPr/>
        </p:nvSpPr>
        <p:spPr>
          <a:xfrm>
            <a:off x="7326085" y="3209042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2">
              <a:defRPr/>
            </a:pP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Овал 122"/>
          <p:cNvSpPr/>
          <p:nvPr/>
        </p:nvSpPr>
        <p:spPr>
          <a:xfrm>
            <a:off x="7860065" y="3258607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2">
              <a:defRPr/>
            </a:pPr>
            <a:r>
              <a:rPr 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Овал 123"/>
          <p:cNvSpPr/>
          <p:nvPr/>
        </p:nvSpPr>
        <p:spPr>
          <a:xfrm>
            <a:off x="8411763" y="3214437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2">
              <a:defRPr/>
            </a:pPr>
            <a:r>
              <a:rPr 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Овал 124"/>
          <p:cNvSpPr/>
          <p:nvPr/>
        </p:nvSpPr>
        <p:spPr>
          <a:xfrm>
            <a:off x="8950437" y="3259942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2">
              <a:defRPr/>
            </a:pP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Овал 125"/>
          <p:cNvSpPr/>
          <p:nvPr/>
        </p:nvSpPr>
        <p:spPr>
          <a:xfrm>
            <a:off x="9491540" y="3207700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2">
              <a:defRPr/>
            </a:pP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9624027" y="2844917"/>
            <a:ext cx="990928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8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7" name="Скругленный прямоугольник 126"/>
          <p:cNvSpPr/>
          <p:nvPr/>
        </p:nvSpPr>
        <p:spPr>
          <a:xfrm>
            <a:off x="9581376" y="1016801"/>
            <a:ext cx="989945" cy="1789212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rgbClr val="ED1C2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17.1 Анализ рынка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17.2 Рекламно-информационное сопровождение продаж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17.3 Продвижение бренда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17.4 Управление продуктовым портфелем</a:t>
            </a:r>
          </a:p>
          <a:p>
            <a:pPr defTabSz="457182">
              <a:defRPr/>
            </a:pPr>
            <a:endParaRPr lang="ru-RU" sz="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7182">
              <a:defRPr/>
            </a:pPr>
            <a:endParaRPr lang="ru-RU" sz="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7182">
              <a:defRPr/>
            </a:pPr>
            <a:endParaRPr lang="ru-RU" sz="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Овал 127"/>
          <p:cNvSpPr/>
          <p:nvPr/>
        </p:nvSpPr>
        <p:spPr>
          <a:xfrm>
            <a:off x="10019575" y="3268507"/>
            <a:ext cx="184356" cy="210349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2">
              <a:defRPr/>
            </a:pP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9592242" y="2860033"/>
            <a:ext cx="9899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srgbClr val="EBEBEB">
                    <a:lumMod val="1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МАРКЕТИНГ</a:t>
            </a:r>
            <a:endParaRPr lang="ru-RU" sz="700" dirty="0">
              <a:solidFill>
                <a:srgbClr val="EBEBEB">
                  <a:lumMod val="1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flipV="1">
            <a:off x="10162600" y="3032953"/>
            <a:ext cx="990927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7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000760" y="3473379"/>
            <a:ext cx="1250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srgbClr val="EBEBEB">
                    <a:lumMod val="1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 ОКАЗАНИЕ</a:t>
            </a:r>
          </a:p>
          <a:p>
            <a:pPr algn="ctr" defTabSz="457182">
              <a:defRPr/>
            </a:pPr>
            <a:r>
              <a:rPr lang="ru-RU" sz="600" dirty="0">
                <a:solidFill>
                  <a:srgbClr val="EBEBEB">
                    <a:lumMod val="1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УСЛУГ ПО ПОКРАСКЕ</a:t>
            </a:r>
          </a:p>
        </p:txBody>
      </p:sp>
      <p:sp>
        <p:nvSpPr>
          <p:cNvPr id="136" name="Овал 135"/>
          <p:cNvSpPr/>
          <p:nvPr/>
        </p:nvSpPr>
        <p:spPr>
          <a:xfrm>
            <a:off x="10565069" y="3207700"/>
            <a:ext cx="183043" cy="20920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2">
              <a:defRPr/>
            </a:pP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Скругленный прямоугольник 136"/>
          <p:cNvSpPr/>
          <p:nvPr/>
        </p:nvSpPr>
        <p:spPr>
          <a:xfrm>
            <a:off x="10169667" y="3874700"/>
            <a:ext cx="989945" cy="1761986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rgbClr val="EE3138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18.1 Оказание услуг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18.2 Качество 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18.3 Техническая документация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18.4 Оборудование и ТОиР</a:t>
            </a:r>
          </a:p>
          <a:p>
            <a:pPr defTabSz="457182">
              <a:defRPr/>
            </a:pPr>
            <a:endParaRPr lang="ru-RU" sz="7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 rot="16200000">
            <a:off x="146009" y="4495054"/>
            <a:ext cx="10870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8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ПРОЦЕССЫ</a:t>
            </a:r>
            <a:endParaRPr lang="ru-RU" sz="900" b="1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 rot="16200000">
            <a:off x="116838" y="1909487"/>
            <a:ext cx="11400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8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ПРОЦЕССЫ</a:t>
            </a:r>
            <a:endParaRPr lang="ru-RU" sz="900" b="1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Прямоугольник 139"/>
          <p:cNvSpPr/>
          <p:nvPr/>
        </p:nvSpPr>
        <p:spPr>
          <a:xfrm flipH="1">
            <a:off x="803803" y="1016237"/>
            <a:ext cx="44388" cy="4588608"/>
          </a:xfrm>
          <a:prstGeom prst="rect">
            <a:avLst/>
          </a:prstGeom>
          <a:solidFill>
            <a:srgbClr val="063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2">
              <a:defRPr/>
            </a:pPr>
            <a:endParaRPr lang="ru-RU">
              <a:solidFill>
                <a:srgbClr val="063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565554" y="509954"/>
            <a:ext cx="1107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63"/>
            <a:r>
              <a:rPr lang="ru-RU" sz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Схема направлений и процессов</a:t>
            </a:r>
            <a:endParaRPr lang="ru-RU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442157" y="5878245"/>
            <a:ext cx="112024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63"/>
            <a:r>
              <a:rPr lang="ru-RU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Функциональная структура ГК «Россильбер» состоит из 19 направлений, включающих в себя суммарно 94 процесса</a:t>
            </a:r>
            <a:endParaRPr lang="ru-RU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Freeform 5">
            <a:extLst>
              <a:ext uri="{FF2B5EF4-FFF2-40B4-BE49-F238E27FC236}">
                <a16:creationId xmlns:a16="http://schemas.microsoft.com/office/drawing/2014/main" id="{1AAF3841-E562-4644-8629-2FF30A471D82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10697346" y="2845416"/>
            <a:ext cx="990928" cy="779517"/>
          </a:xfrm>
          <a:custGeom>
            <a:avLst/>
            <a:gdLst>
              <a:gd name="T0" fmla="*/ 3256 w 3324"/>
              <a:gd name="T1" fmla="*/ 470 h 2157"/>
              <a:gd name="T2" fmla="*/ 1880 w 3324"/>
              <a:gd name="T3" fmla="*/ 2056 h 2157"/>
              <a:gd name="T4" fmla="*/ 1880 w 3324"/>
              <a:gd name="T5" fmla="*/ 2056 h 2157"/>
              <a:gd name="T6" fmla="*/ 1663 w 3324"/>
              <a:gd name="T7" fmla="*/ 2157 h 2157"/>
              <a:gd name="T8" fmla="*/ 1451 w 3324"/>
              <a:gd name="T9" fmla="*/ 2062 h 2157"/>
              <a:gd name="T10" fmla="*/ 1450 w 3324"/>
              <a:gd name="T11" fmla="*/ 2062 h 2157"/>
              <a:gd name="T12" fmla="*/ 83 w 3324"/>
              <a:gd name="T13" fmla="*/ 485 h 2157"/>
              <a:gd name="T14" fmla="*/ 0 w 3324"/>
              <a:gd name="T15" fmla="*/ 284 h 2157"/>
              <a:gd name="T16" fmla="*/ 283 w 3324"/>
              <a:gd name="T17" fmla="*/ 0 h 2157"/>
              <a:gd name="T18" fmla="*/ 283 w 3324"/>
              <a:gd name="T19" fmla="*/ 0 h 2157"/>
              <a:gd name="T20" fmla="*/ 284 w 3324"/>
              <a:gd name="T21" fmla="*/ 0 h 2157"/>
              <a:gd name="T22" fmla="*/ 3039 w 3324"/>
              <a:gd name="T23" fmla="*/ 0 h 2157"/>
              <a:gd name="T24" fmla="*/ 3039 w 3324"/>
              <a:gd name="T25" fmla="*/ 0 h 2157"/>
              <a:gd name="T26" fmla="*/ 3040 w 3324"/>
              <a:gd name="T27" fmla="*/ 0 h 2157"/>
              <a:gd name="T28" fmla="*/ 3324 w 3324"/>
              <a:gd name="T29" fmla="*/ 284 h 2157"/>
              <a:gd name="T30" fmla="*/ 3256 w 3324"/>
              <a:gd name="T31" fmla="*/ 470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324" h="2157">
                <a:moveTo>
                  <a:pt x="3256" y="470"/>
                </a:moveTo>
                <a:lnTo>
                  <a:pt x="1880" y="2056"/>
                </a:lnTo>
                <a:lnTo>
                  <a:pt x="1880" y="2056"/>
                </a:lnTo>
                <a:cubicBezTo>
                  <a:pt x="1828" y="2118"/>
                  <a:pt x="1750" y="2157"/>
                  <a:pt x="1663" y="2157"/>
                </a:cubicBezTo>
                <a:cubicBezTo>
                  <a:pt x="1578" y="2157"/>
                  <a:pt x="1503" y="2120"/>
                  <a:pt x="1451" y="2062"/>
                </a:cubicBezTo>
                <a:lnTo>
                  <a:pt x="1450" y="2062"/>
                </a:lnTo>
                <a:lnTo>
                  <a:pt x="83" y="485"/>
                </a:lnTo>
                <a:cubicBezTo>
                  <a:pt x="32" y="433"/>
                  <a:pt x="0" y="363"/>
                  <a:pt x="0" y="284"/>
                </a:cubicBezTo>
                <a:cubicBezTo>
                  <a:pt x="0" y="128"/>
                  <a:pt x="127" y="1"/>
                  <a:pt x="283" y="0"/>
                </a:cubicBezTo>
                <a:lnTo>
                  <a:pt x="283" y="0"/>
                </a:lnTo>
                <a:lnTo>
                  <a:pt x="284" y="0"/>
                </a:lnTo>
                <a:lnTo>
                  <a:pt x="3039" y="0"/>
                </a:lnTo>
                <a:lnTo>
                  <a:pt x="3039" y="0"/>
                </a:lnTo>
                <a:lnTo>
                  <a:pt x="3040" y="0"/>
                </a:lnTo>
                <a:cubicBezTo>
                  <a:pt x="3197" y="0"/>
                  <a:pt x="3324" y="127"/>
                  <a:pt x="3324" y="284"/>
                </a:cubicBezTo>
                <a:cubicBezTo>
                  <a:pt x="3324" y="355"/>
                  <a:pt x="3299" y="420"/>
                  <a:pt x="3256" y="47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1270">
            <a:solidFill>
              <a:schemeClr val="bg1">
                <a:lumMod val="85000"/>
                <a:lumOff val="1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363">
              <a:defRPr/>
            </a:pPr>
            <a:endParaRPr lang="zh-CN" altLang="en-US" sz="800" kern="0" dirty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3" name="Скругленный прямоугольник 92"/>
          <p:cNvSpPr/>
          <p:nvPr/>
        </p:nvSpPr>
        <p:spPr>
          <a:xfrm>
            <a:off x="10654694" y="1017299"/>
            <a:ext cx="989945" cy="1789212"/>
          </a:xfrm>
          <a:prstGeom prst="roundRect">
            <a:avLst>
              <a:gd name="adj" fmla="val 8182"/>
            </a:avLst>
          </a:prstGeom>
          <a:solidFill>
            <a:schemeClr val="tx1">
              <a:lumMod val="95000"/>
              <a:alpha val="30000"/>
            </a:schemeClr>
          </a:solidFill>
          <a:ln w="1270">
            <a:solidFill>
              <a:srgbClr val="ED1C2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>
            <a:noAutofit/>
          </a:bodyPr>
          <a:lstStyle/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19.1 Тендерные продажи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19.2 Розница / Маркетплейсы</a:t>
            </a:r>
          </a:p>
          <a:p>
            <a:pPr defTabSz="457182">
              <a:defRPr/>
            </a:pPr>
            <a:r>
              <a:rPr lang="ru-RU" sz="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19.3 Автоматизация и аналитика</a:t>
            </a:r>
          </a:p>
          <a:p>
            <a:pPr defTabSz="457182">
              <a:defRPr/>
            </a:pPr>
            <a:endParaRPr lang="ru-RU" sz="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7182">
              <a:defRPr/>
            </a:pPr>
            <a:endParaRPr lang="ru-RU" sz="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7182">
              <a:defRPr/>
            </a:pPr>
            <a:endParaRPr lang="ru-RU" sz="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11092895" y="3269005"/>
            <a:ext cx="184356" cy="210349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2">
              <a:defRPr/>
            </a:pPr>
            <a:r>
              <a:rPr lang="en-US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9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665561" y="2860530"/>
            <a:ext cx="9899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182">
              <a:defRPr/>
            </a:pPr>
            <a:r>
              <a:rPr lang="ru-RU" sz="600" dirty="0">
                <a:solidFill>
                  <a:srgbClr val="EBEBEB">
                    <a:lumMod val="1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РЕСЕЙЛ</a:t>
            </a:r>
            <a:endParaRPr lang="ru-RU" sz="700" dirty="0">
              <a:solidFill>
                <a:srgbClr val="EBEBEB">
                  <a:lumMod val="1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7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Microsoft Office PowerPoint</Application>
  <PresentationFormat>Широкоэкранный</PresentationFormat>
  <Paragraphs>243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Fira Sans Extra Condensed Medium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Патрушев Егор Андреевич</dc:creator>
  <cp:lastModifiedBy>Патрушев Егор Андреевич</cp:lastModifiedBy>
  <cp:revision>1</cp:revision>
  <dcterms:created xsi:type="dcterms:W3CDTF">2026-04-22T07:00:54Z</dcterms:created>
  <dcterms:modified xsi:type="dcterms:W3CDTF">2026-04-22T07:01:19Z</dcterms:modified>
</cp:coreProperties>
</file>